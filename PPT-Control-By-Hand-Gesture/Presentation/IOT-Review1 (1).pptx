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Roboto"/>
      <p:regular r:id="rId22"/>
      <p:bold r:id="rId23"/>
      <p:italic r:id="rId24"/>
      <p:boldItalic r:id="rId25"/>
    </p:embeddedFont>
    <p:embeddedFont>
      <p:font typeface="Cantarell"/>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A2A4B69-044F-4C2A-8AB1-694C089AA89F}">
  <a:tblStyle styleId="{3A2A4B69-044F-4C2A-8AB1-694C089AA89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B52807A-B8AC-40A0-9F49-79818833B288}"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Roboto-regular.fntdata"/><Relationship Id="rId21" Type="http://schemas.openxmlformats.org/officeDocument/2006/relationships/slide" Target="slides/slide15.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Cantarell-regular.fntdata"/><Relationship Id="rId25" Type="http://schemas.openxmlformats.org/officeDocument/2006/relationships/font" Target="fonts/Roboto-boldItalic.fntdata"/><Relationship Id="rId28" Type="http://schemas.openxmlformats.org/officeDocument/2006/relationships/font" Target="fonts/Cantarell-italic.fntdata"/><Relationship Id="rId27" Type="http://schemas.openxmlformats.org/officeDocument/2006/relationships/font" Target="fonts/Cantarell-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Cantarell-boldItalic.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 name="Google Shape;57;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 name="Google Shape;6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8d2938f1e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8d2938f1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3" name="Shape 13"/>
        <p:cNvGrpSpPr/>
        <p:nvPr/>
      </p:nvGrpSpPr>
      <p:grpSpPr>
        <a:xfrm>
          <a:off x="0" y="0"/>
          <a:ext cx="0" cy="0"/>
          <a:chOff x="0" y="0"/>
          <a:chExt cx="0" cy="0"/>
        </a:xfrm>
      </p:grpSpPr>
      <p:pic>
        <p:nvPicPr>
          <p:cNvPr descr="A white and gold rectangles&#10;&#10;Description automatically generated with low confidence" id="14" name="Google Shape;14;p3"/>
          <p:cNvPicPr preferRelativeResize="0"/>
          <p:nvPr/>
        </p:nvPicPr>
        <p:blipFill rotWithShape="1">
          <a:blip r:embed="rId2">
            <a:alphaModFix amt="20000"/>
          </a:blip>
          <a:srcRect b="0" l="0" r="0" t="0"/>
          <a:stretch/>
        </p:blipFill>
        <p:spPr>
          <a:xfrm>
            <a:off x="0" y="0"/>
            <a:ext cx="9143998" cy="5143502"/>
          </a:xfrm>
          <a:prstGeom prst="rect">
            <a:avLst/>
          </a:prstGeom>
          <a:noFill/>
          <a:ln>
            <a:noFill/>
          </a:ln>
        </p:spPr>
      </p:pic>
      <p:pic>
        <p:nvPicPr>
          <p:cNvPr descr="A picture containing text, logo, font, graphics&#10;&#10;Description automatically generated" id="15" name="Google Shape;15;p3"/>
          <p:cNvPicPr preferRelativeResize="0"/>
          <p:nvPr/>
        </p:nvPicPr>
        <p:blipFill rotWithShape="1">
          <a:blip r:embed="rId3">
            <a:alphaModFix/>
          </a:blip>
          <a:srcRect b="0" l="0" r="0" t="0"/>
          <a:stretch/>
        </p:blipFill>
        <p:spPr>
          <a:xfrm>
            <a:off x="7127532" y="1"/>
            <a:ext cx="2016469" cy="1133475"/>
          </a:xfrm>
          <a:prstGeom prst="rect">
            <a:avLst/>
          </a:prstGeom>
          <a:noFill/>
          <a:ln>
            <a:noFill/>
          </a:ln>
        </p:spPr>
      </p:pic>
      <p:sp>
        <p:nvSpPr>
          <p:cNvPr id="16" name="Google Shape;16;p3"/>
          <p:cNvSpPr/>
          <p:nvPr/>
        </p:nvSpPr>
        <p:spPr>
          <a:xfrm>
            <a:off x="0" y="4676776"/>
            <a:ext cx="9144000" cy="466800"/>
          </a:xfrm>
          <a:prstGeom prst="round2SameRect">
            <a:avLst>
              <a:gd fmla="val 50000" name="adj1"/>
              <a:gd fmla="val 0"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7" name="Google Shape;17;p3"/>
          <p:cNvSpPr/>
          <p:nvPr/>
        </p:nvSpPr>
        <p:spPr>
          <a:xfrm>
            <a:off x="0" y="5109210"/>
            <a:ext cx="9144000" cy="34200"/>
          </a:xfrm>
          <a:prstGeom prst="round2SameRect">
            <a:avLst>
              <a:gd fmla="val 0" name="adj1"/>
              <a:gd fmla="val 0" name="adj2"/>
            </a:avLst>
          </a:prstGeom>
          <a:solidFill>
            <a:srgbClr val="D7AC5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 name="Shape 18"/>
        <p:cNvGrpSpPr/>
        <p:nvPr/>
      </p:nvGrpSpPr>
      <p:grpSpPr>
        <a:xfrm>
          <a:off x="0" y="0"/>
          <a:ext cx="0" cy="0"/>
          <a:chOff x="0" y="0"/>
          <a:chExt cx="0" cy="0"/>
        </a:xfrm>
      </p:grpSpPr>
      <p:sp>
        <p:nvSpPr>
          <p:cNvPr id="19" name="Google Shape;19;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0" name="Google Shape;20;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8" name="Google Shape;28;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9" name="Google Shape;29;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2" name="Google Shape;32;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5" name="Google Shape;35;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6" name="Google Shape;36;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9" name="Google Shape;39;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 name="Shape 40"/>
        <p:cNvGrpSpPr/>
        <p:nvPr/>
      </p:nvGrpSpPr>
      <p:grpSpPr>
        <a:xfrm>
          <a:off x="0" y="0"/>
          <a:ext cx="0" cy="0"/>
          <a:chOff x="0" y="0"/>
          <a:chExt cx="0" cy="0"/>
        </a:xfrm>
      </p:grpSpPr>
      <p:sp>
        <p:nvSpPr>
          <p:cNvPr id="41" name="Google Shape;41;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3" name="Google Shape;43;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5" name="Google Shape;45;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8" name="Google Shape;48;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1" name="Google Shape;51;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2" name="Google Shape;52;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www.researchgate.net/profile/Luciano-Buonocore/publication/266669711_A_SENSOR_DATA_FUSION_ALGORITHM_FOR_INDOOR_SLAM_USING_A_LOW-COST_MOBILE_ROBOT/links/54368a310cf2bf1f1f2bdac4/A-SENSOR-DATA-FUSION-ALGORITHM-FOR-INDOOR-SLAM-USING-A-LOW-COST-MOBILE-ROBOT.pdf" TargetMode="External"/><Relationship Id="rId4" Type="http://schemas.openxmlformats.org/officeDocument/2006/relationships/hyperlink" Target="https://www.researchgate.net/publication/366375691_Comparison_of_Monocular_ROS-Based_Visual_SLAM_Methods" TargetMode="External"/><Relationship Id="rId5" Type="http://schemas.openxmlformats.org/officeDocument/2006/relationships/hyperlink" Target="https://github.com/PatelVatsalB21/Ultrasonic-SLAM" TargetMode="External"/><Relationship Id="rId6" Type="http://schemas.openxmlformats.org/officeDocument/2006/relationships/hyperlink" Target="https://www.researchgate.net/publication/2938736_Learning_Occupancy_Grid_Maps_With_Forward"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1241097" y="1208028"/>
            <a:ext cx="6661800" cy="2147100"/>
          </a:xfrm>
          <a:prstGeom prst="rect">
            <a:avLst/>
          </a:prstGeom>
          <a:solidFill>
            <a:srgbClr val="233039"/>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2700"/>
              <a:buFont typeface="Arial"/>
              <a:buNone/>
            </a:pPr>
            <a:r>
              <a:t/>
            </a:r>
            <a:endParaRPr b="1" i="0" sz="2700" u="none" cap="none" strike="noStrike">
              <a:solidFill>
                <a:srgbClr val="D7AC54"/>
              </a:solidFill>
              <a:latin typeface="Cantarell"/>
              <a:ea typeface="Cantarell"/>
              <a:cs typeface="Cantarell"/>
              <a:sym typeface="Cantarell"/>
            </a:endParaRPr>
          </a:p>
          <a:p>
            <a:pPr indent="0" lvl="0" marL="0" marR="0" rtl="0" algn="ctr">
              <a:lnSpc>
                <a:spcPct val="100000"/>
              </a:lnSpc>
              <a:spcBef>
                <a:spcPts val="0"/>
              </a:spcBef>
              <a:spcAft>
                <a:spcPts val="0"/>
              </a:spcAft>
              <a:buClr>
                <a:srgbClr val="000000"/>
              </a:buClr>
              <a:buSzPts val="2700"/>
              <a:buFont typeface="Arial"/>
              <a:buNone/>
            </a:pPr>
            <a:r>
              <a:rPr b="1" lang="en" sz="2700">
                <a:solidFill>
                  <a:srgbClr val="D7AC54"/>
                </a:solidFill>
                <a:latin typeface="Cantarell"/>
                <a:ea typeface="Cantarell"/>
                <a:cs typeface="Cantarell"/>
                <a:sym typeface="Cantarell"/>
              </a:rPr>
              <a:t>IoT-Enabled Autonomous Indoor Mapping Robot with Intelligent Obstacle Avoidance</a:t>
            </a:r>
            <a:r>
              <a:rPr b="1" i="0" lang="en" sz="2700" u="none" cap="none" strike="noStrike">
                <a:solidFill>
                  <a:srgbClr val="D7AC54"/>
                </a:solidFill>
                <a:latin typeface="Cantarell"/>
                <a:ea typeface="Cantarell"/>
                <a:cs typeface="Cantarell"/>
                <a:sym typeface="Cantarell"/>
              </a:rPr>
              <a:t>   </a:t>
            </a:r>
            <a:endParaRPr b="0" i="0" sz="2700" u="none" cap="none" strike="noStrike">
              <a:solidFill>
                <a:srgbClr val="D7AC54"/>
              </a:solidFill>
              <a:latin typeface="Cantarell"/>
              <a:ea typeface="Cantarell"/>
              <a:cs typeface="Cantarell"/>
              <a:sym typeface="Cantarell"/>
            </a:endParaRPr>
          </a:p>
          <a:p>
            <a:pPr indent="0" lvl="0" marL="0" marR="0" rtl="0" algn="ctr">
              <a:lnSpc>
                <a:spcPct val="100000"/>
              </a:lnSpc>
              <a:spcBef>
                <a:spcPts val="0"/>
              </a:spcBef>
              <a:spcAft>
                <a:spcPts val="0"/>
              </a:spcAft>
              <a:buClr>
                <a:srgbClr val="000000"/>
              </a:buClr>
              <a:buSzPts val="2700"/>
              <a:buFont typeface="Arial"/>
              <a:buNone/>
            </a:pPr>
            <a:r>
              <a:t/>
            </a:r>
            <a:endParaRPr b="1" i="0" sz="2700" u="none" cap="none" strike="noStrike">
              <a:solidFill>
                <a:srgbClr val="D7AC54"/>
              </a:solidFill>
              <a:latin typeface="Cantarell"/>
              <a:ea typeface="Cantarell"/>
              <a:cs typeface="Cantarell"/>
              <a:sym typeface="Cantarell"/>
            </a:endParaRPr>
          </a:p>
        </p:txBody>
      </p:sp>
      <p:pic>
        <p:nvPicPr>
          <p:cNvPr descr="A picture containing text, logo, font, graphics&#10;&#10;Description automatically generated" id="60" name="Google Shape;60;p14"/>
          <p:cNvPicPr preferRelativeResize="0"/>
          <p:nvPr/>
        </p:nvPicPr>
        <p:blipFill rotWithShape="1">
          <a:blip r:embed="rId3">
            <a:alphaModFix/>
          </a:blip>
          <a:srcRect b="0" l="0" r="0" t="0"/>
          <a:stretch/>
        </p:blipFill>
        <p:spPr>
          <a:xfrm>
            <a:off x="6994922" y="0"/>
            <a:ext cx="2149079" cy="1208018"/>
          </a:xfrm>
          <a:prstGeom prst="rect">
            <a:avLst/>
          </a:prstGeom>
          <a:noFill/>
          <a:ln>
            <a:noFill/>
          </a:ln>
        </p:spPr>
      </p:pic>
      <p:sp>
        <p:nvSpPr>
          <p:cNvPr id="61" name="Google Shape;61;p14"/>
          <p:cNvSpPr/>
          <p:nvPr/>
        </p:nvSpPr>
        <p:spPr>
          <a:xfrm>
            <a:off x="0" y="4791075"/>
            <a:ext cx="9144000" cy="95100"/>
          </a:xfrm>
          <a:prstGeom prst="rect">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62" name="Google Shape;62;p14"/>
          <p:cNvSpPr/>
          <p:nvPr/>
        </p:nvSpPr>
        <p:spPr>
          <a:xfrm flipH="1" rot="10800000">
            <a:off x="0" y="4930228"/>
            <a:ext cx="9144000" cy="34200"/>
          </a:xfrm>
          <a:prstGeom prst="rect">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63" name="Google Shape;63;p14"/>
          <p:cNvSpPr txBox="1"/>
          <p:nvPr/>
        </p:nvSpPr>
        <p:spPr>
          <a:xfrm>
            <a:off x="4937077" y="3822750"/>
            <a:ext cx="4111800" cy="985200"/>
          </a:xfrm>
          <a:prstGeom prst="rect">
            <a:avLst/>
          </a:prstGeom>
          <a:noFill/>
          <a:ln>
            <a:noFill/>
          </a:ln>
        </p:spPr>
        <p:txBody>
          <a:bodyPr anchorCtr="0" anchor="t" bIns="68575" lIns="68575" spcFirstLastPara="1" rIns="68575" wrap="square" tIns="68575">
            <a:spAutoFit/>
          </a:bodyPr>
          <a:lstStyle/>
          <a:p>
            <a:pPr indent="0" lvl="0" marL="0" marR="0" rtl="0" algn="just">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Arial"/>
                <a:ea typeface="Arial"/>
                <a:cs typeface="Arial"/>
                <a:sym typeface="Arial"/>
              </a:rPr>
              <a:t>                                                        Team members</a:t>
            </a:r>
            <a:endParaRPr b="1"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1" lang="en" sz="1100"/>
              <a:t>                                          1RVU23CSE520</a:t>
            </a:r>
            <a:r>
              <a:rPr b="1" i="0" lang="en" sz="1100" u="none" cap="none" strike="noStrike">
                <a:solidFill>
                  <a:srgbClr val="000000"/>
                </a:solidFill>
                <a:latin typeface="Arial"/>
                <a:ea typeface="Arial"/>
                <a:cs typeface="Arial"/>
                <a:sym typeface="Arial"/>
              </a:rPr>
              <a:t> - </a:t>
            </a:r>
            <a:r>
              <a:rPr b="1" lang="en" sz="1100"/>
              <a:t>Vaibhav Kumar</a:t>
            </a:r>
            <a:endParaRPr b="1" i="0" sz="11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100"/>
              <a:buFont typeface="Arial"/>
              <a:buNone/>
            </a:pPr>
            <a:r>
              <a:rPr b="1" lang="en" sz="1100">
                <a:solidFill>
                  <a:schemeClr val="dk1"/>
                </a:solidFill>
              </a:rPr>
              <a:t>1RVU23CSE404</a:t>
            </a:r>
            <a:r>
              <a:rPr b="1" i="0" lang="en" sz="1100" u="none" cap="none" strike="noStrike">
                <a:solidFill>
                  <a:schemeClr val="dk1"/>
                </a:solidFill>
                <a:latin typeface="Arial"/>
                <a:ea typeface="Arial"/>
                <a:cs typeface="Arial"/>
                <a:sym typeface="Arial"/>
              </a:rPr>
              <a:t> - </a:t>
            </a:r>
            <a:r>
              <a:rPr b="1" lang="en" sz="1100">
                <a:solidFill>
                  <a:schemeClr val="dk1"/>
                </a:solidFill>
              </a:rPr>
              <a:t>Sameer Kulkarni</a:t>
            </a:r>
            <a:endParaRPr b="1" i="0" sz="11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1" lang="en" sz="1100">
                <a:solidFill>
                  <a:schemeClr val="dk1"/>
                </a:solidFill>
              </a:rPr>
              <a:t>                                         1RVU23CSE212</a:t>
            </a:r>
            <a:r>
              <a:rPr b="1" i="0" lang="en" sz="1100" u="none" cap="none" strike="noStrike">
                <a:solidFill>
                  <a:schemeClr val="dk1"/>
                </a:solidFill>
                <a:latin typeface="Arial"/>
                <a:ea typeface="Arial"/>
                <a:cs typeface="Arial"/>
                <a:sym typeface="Arial"/>
              </a:rPr>
              <a:t> - </a:t>
            </a:r>
            <a:r>
              <a:rPr b="1" lang="en" sz="1100">
                <a:solidFill>
                  <a:schemeClr val="dk1"/>
                </a:solidFill>
              </a:rPr>
              <a:t>Kanu Prieya M</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Arial"/>
                <a:ea typeface="Arial"/>
                <a:cs typeface="Arial"/>
                <a:sym typeface="Arial"/>
              </a:rPr>
              <a:t> </a:t>
            </a:r>
            <a:endParaRPr b="1" i="0" sz="1100" u="none" cap="none" strike="noStrike">
              <a:solidFill>
                <a:srgbClr val="000000"/>
              </a:solidFill>
              <a:latin typeface="Arial"/>
              <a:ea typeface="Arial"/>
              <a:cs typeface="Arial"/>
              <a:sym typeface="Arial"/>
            </a:endParaRPr>
          </a:p>
        </p:txBody>
      </p:sp>
      <p:sp>
        <p:nvSpPr>
          <p:cNvPr id="64" name="Google Shape;64;p14"/>
          <p:cNvSpPr txBox="1"/>
          <p:nvPr/>
        </p:nvSpPr>
        <p:spPr>
          <a:xfrm>
            <a:off x="216900" y="3810613"/>
            <a:ext cx="44619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FF0000"/>
                </a:solidFill>
                <a:latin typeface="Arial"/>
                <a:ea typeface="Arial"/>
                <a:cs typeface="Arial"/>
                <a:sym typeface="Arial"/>
              </a:rPr>
              <a:t>Course Instructor: </a:t>
            </a:r>
            <a:endParaRPr b="1" i="0" sz="10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FF0000"/>
                </a:solidFill>
                <a:latin typeface="Arial"/>
                <a:ea typeface="Arial"/>
                <a:cs typeface="Arial"/>
                <a:sym typeface="Arial"/>
              </a:rPr>
              <a:t>Prof. Sheela </a:t>
            </a:r>
            <a:endParaRPr b="0" i="0" sz="10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2"/>
                </a:solidFill>
                <a:latin typeface="Arial"/>
                <a:ea typeface="Arial"/>
                <a:cs typeface="Arial"/>
                <a:sym typeface="Arial"/>
              </a:rPr>
              <a:t>School of Computer Science and Engineering </a:t>
            </a:r>
            <a:endParaRPr b="0" i="0" sz="10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2"/>
                </a:solidFill>
                <a:latin typeface="Arial"/>
                <a:ea typeface="Arial"/>
                <a:cs typeface="Arial"/>
                <a:sym typeface="Arial"/>
              </a:rPr>
              <a:t>RV University, Bangalore </a:t>
            </a:r>
            <a:endParaRPr b="0" i="0" sz="1000" u="none" cap="none" strike="noStrike">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9"/>
                                        </p:tgtEl>
                                        <p:attrNameLst>
                                          <p:attrName>style.visibility</p:attrName>
                                        </p:attrNameLst>
                                      </p:cBhvr>
                                      <p:to>
                                        <p:strVal val="visible"/>
                                      </p:to>
                                    </p:set>
                                    <p:animEffect filter="fade" transition="in">
                                      <p:cBhvr>
                                        <p:cTn dur="500"/>
                                        <p:tgtEl>
                                          <p:spTgt spid="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p:nvPr/>
        </p:nvSpPr>
        <p:spPr>
          <a:xfrm>
            <a:off x="2329132" y="381270"/>
            <a:ext cx="4179600" cy="4668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D7AC54"/>
                </a:solidFill>
                <a:latin typeface="Cantarell"/>
                <a:ea typeface="Cantarell"/>
                <a:cs typeface="Cantarell"/>
                <a:sym typeface="Cantarell"/>
              </a:rPr>
              <a:t>Outlines </a:t>
            </a:r>
            <a:endParaRPr b="1" i="0" sz="1400" u="none" cap="none" strike="noStrike">
              <a:solidFill>
                <a:srgbClr val="D7AC54"/>
              </a:solidFill>
              <a:latin typeface="Cantarell"/>
              <a:ea typeface="Cantarell"/>
              <a:cs typeface="Cantarell"/>
              <a:sym typeface="Cantarell"/>
            </a:endParaRPr>
          </a:p>
        </p:txBody>
      </p:sp>
      <p:sp>
        <p:nvSpPr>
          <p:cNvPr id="70" name="Google Shape;70;p15"/>
          <p:cNvSpPr txBox="1"/>
          <p:nvPr/>
        </p:nvSpPr>
        <p:spPr>
          <a:xfrm>
            <a:off x="553350" y="954576"/>
            <a:ext cx="7725300" cy="3601800"/>
          </a:xfrm>
          <a:prstGeom prst="rect">
            <a:avLst/>
          </a:prstGeom>
          <a:noFill/>
          <a:ln>
            <a:noFill/>
          </a:ln>
        </p:spPr>
        <p:txBody>
          <a:bodyPr anchorCtr="0" anchor="t" bIns="68575" lIns="68575" spcFirstLastPara="1" rIns="68575" wrap="square" tIns="68575">
            <a:spAutoFit/>
          </a:bodyPr>
          <a:lstStyle/>
          <a:p>
            <a:pPr indent="-342900" lvl="0" marL="457200" marR="0" rtl="0" algn="l">
              <a:lnSpc>
                <a:spcPct val="115000"/>
              </a:lnSpc>
              <a:spcBef>
                <a:spcPts val="0"/>
              </a:spcBef>
              <a:spcAft>
                <a:spcPts val="0"/>
              </a:spcAft>
              <a:buClr>
                <a:schemeClr val="dk1"/>
              </a:buClr>
              <a:buSzPts val="1800"/>
              <a:buFont typeface="Times New Roman"/>
              <a:buAutoNum type="arabicPeriod"/>
            </a:pPr>
            <a:r>
              <a:rPr i="0" lang="en" sz="1800" u="none" cap="none" strike="noStrike">
                <a:solidFill>
                  <a:schemeClr val="dk1"/>
                </a:solidFill>
                <a:latin typeface="Times New Roman"/>
                <a:ea typeface="Times New Roman"/>
                <a:cs typeface="Times New Roman"/>
                <a:sym typeface="Times New Roman"/>
              </a:rPr>
              <a:t>Abstract </a:t>
            </a:r>
            <a:endParaRPr sz="1300">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AutoNum type="arabicPeriod"/>
            </a:pPr>
            <a:r>
              <a:rPr i="0" lang="en" sz="1800" u="none" cap="none" strike="noStrike">
                <a:solidFill>
                  <a:schemeClr val="dk1"/>
                </a:solidFill>
                <a:latin typeface="Times New Roman"/>
                <a:ea typeface="Times New Roman"/>
                <a:cs typeface="Times New Roman"/>
                <a:sym typeface="Times New Roman"/>
              </a:rPr>
              <a:t>Objective of Project</a:t>
            </a:r>
            <a:endParaRPr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AutoNum type="arabicPeriod"/>
            </a:pPr>
            <a:r>
              <a:rPr i="0" lang="en" sz="1800" u="none" cap="none" strike="noStrike">
                <a:solidFill>
                  <a:schemeClr val="dk1"/>
                </a:solidFill>
                <a:latin typeface="Times New Roman"/>
                <a:ea typeface="Times New Roman"/>
                <a:cs typeface="Times New Roman"/>
                <a:sym typeface="Times New Roman"/>
              </a:rPr>
              <a:t>Introduction </a:t>
            </a:r>
            <a:endParaRPr sz="1300">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AutoNum type="arabicPeriod"/>
            </a:pPr>
            <a:r>
              <a:rPr i="0" lang="en" sz="1800" u="none" cap="none" strike="noStrike">
                <a:solidFill>
                  <a:schemeClr val="dk1"/>
                </a:solidFill>
                <a:latin typeface="Times New Roman"/>
                <a:ea typeface="Times New Roman"/>
                <a:cs typeface="Times New Roman"/>
                <a:sym typeface="Times New Roman"/>
              </a:rPr>
              <a:t>Literature Survey</a:t>
            </a:r>
            <a:endParaRPr sz="1300">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AutoNum type="arabicPeriod"/>
            </a:pPr>
            <a:r>
              <a:rPr i="0" lang="en" sz="1800" u="none" cap="none" strike="noStrike">
                <a:solidFill>
                  <a:schemeClr val="dk1"/>
                </a:solidFill>
                <a:latin typeface="Times New Roman"/>
                <a:ea typeface="Times New Roman"/>
                <a:cs typeface="Times New Roman"/>
                <a:sym typeface="Times New Roman"/>
              </a:rPr>
              <a:t>Problem statement </a:t>
            </a:r>
            <a:endParaRPr sz="1300">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AutoNum type="arabicPeriod"/>
            </a:pPr>
            <a:r>
              <a:rPr i="0" lang="en" sz="1800" u="none" cap="none" strike="noStrike">
                <a:solidFill>
                  <a:schemeClr val="dk1"/>
                </a:solidFill>
                <a:latin typeface="Times New Roman"/>
                <a:ea typeface="Times New Roman"/>
                <a:cs typeface="Times New Roman"/>
                <a:sym typeface="Times New Roman"/>
              </a:rPr>
              <a:t>Existing System and Proposed System</a:t>
            </a:r>
            <a:endParaRPr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AutoNum type="arabicPeriod"/>
            </a:pPr>
            <a:r>
              <a:rPr i="0" lang="en" sz="1800" u="none" cap="none" strike="noStrike">
                <a:solidFill>
                  <a:schemeClr val="dk1"/>
                </a:solidFill>
                <a:latin typeface="Times New Roman"/>
                <a:ea typeface="Times New Roman"/>
                <a:cs typeface="Times New Roman"/>
                <a:sym typeface="Times New Roman"/>
              </a:rPr>
              <a:t>Architecture</a:t>
            </a:r>
            <a:endParaRPr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AutoNum type="arabicPeriod"/>
            </a:pPr>
            <a:r>
              <a:rPr i="0" lang="en" sz="1800" u="none" cap="none" strike="noStrike">
                <a:solidFill>
                  <a:schemeClr val="dk1"/>
                </a:solidFill>
                <a:latin typeface="Times New Roman"/>
                <a:ea typeface="Times New Roman"/>
                <a:cs typeface="Times New Roman"/>
                <a:sym typeface="Times New Roman"/>
              </a:rPr>
              <a:t>System Analysis and Requirements</a:t>
            </a:r>
            <a:endParaRPr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AutoNum type="arabicPeriod"/>
            </a:pPr>
            <a:r>
              <a:rPr i="0" lang="en" sz="1800" u="none" cap="none" strike="noStrike">
                <a:solidFill>
                  <a:schemeClr val="dk1"/>
                </a:solidFill>
                <a:latin typeface="Times New Roman"/>
                <a:ea typeface="Times New Roman"/>
                <a:cs typeface="Times New Roman"/>
                <a:sym typeface="Times New Roman"/>
              </a:rPr>
              <a:t>Results and conclusions</a:t>
            </a:r>
            <a:endParaRPr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AutoNum type="arabicPeriod"/>
            </a:pPr>
            <a:r>
              <a:rPr i="0" lang="en" sz="1800" u="none" cap="none" strike="noStrike">
                <a:solidFill>
                  <a:schemeClr val="dk1"/>
                </a:solidFill>
                <a:latin typeface="Times New Roman"/>
                <a:ea typeface="Times New Roman"/>
                <a:cs typeface="Times New Roman"/>
                <a:sym typeface="Times New Roman"/>
              </a:rPr>
              <a:t>Future work </a:t>
            </a:r>
            <a:endParaRPr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AutoNum type="arabicPeriod"/>
            </a:pPr>
            <a:r>
              <a:rPr i="0" lang="en" sz="1800" u="none" cap="none" strike="noStrike">
                <a:solidFill>
                  <a:schemeClr val="dk1"/>
                </a:solidFill>
                <a:latin typeface="Times New Roman"/>
                <a:ea typeface="Times New Roman"/>
                <a:cs typeface="Times New Roman"/>
                <a:sym typeface="Times New Roman"/>
              </a:rPr>
              <a:t>References </a:t>
            </a:r>
            <a:endParaRPr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id="75" name="Google Shape;75;p16"/>
          <p:cNvPicPr preferRelativeResize="0"/>
          <p:nvPr/>
        </p:nvPicPr>
        <p:blipFill rotWithShape="1">
          <a:blip r:embed="rId3">
            <a:alphaModFix/>
          </a:blip>
          <a:srcRect b="0" l="0" r="0" t="0"/>
          <a:stretch/>
        </p:blipFill>
        <p:spPr>
          <a:xfrm>
            <a:off x="2082858" y="446736"/>
            <a:ext cx="4182218" cy="463336"/>
          </a:xfrm>
          <a:prstGeom prst="rect">
            <a:avLst/>
          </a:prstGeom>
          <a:noFill/>
          <a:ln>
            <a:noFill/>
          </a:ln>
        </p:spPr>
      </p:pic>
      <p:sp>
        <p:nvSpPr>
          <p:cNvPr id="76" name="Google Shape;76;p16"/>
          <p:cNvSpPr txBox="1"/>
          <p:nvPr/>
        </p:nvSpPr>
        <p:spPr>
          <a:xfrm>
            <a:off x="777750" y="1086175"/>
            <a:ext cx="7586100" cy="33525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 sz="1300">
                <a:solidFill>
                  <a:schemeClr val="dk1"/>
                </a:solidFill>
                <a:latin typeface="Times New Roman"/>
                <a:ea typeface="Times New Roman"/>
                <a:cs typeface="Times New Roman"/>
                <a:sym typeface="Times New Roman"/>
              </a:rPr>
              <a:t>This project focuses on the development of a differential-drive IoT-enabled robot designed for autonomous indoor navigation and environment mapping</a:t>
            </a:r>
            <a:r>
              <a:rPr lang="en" sz="1300">
                <a:solidFill>
                  <a:schemeClr val="dk1"/>
                </a:solidFill>
                <a:latin typeface="Times New Roman"/>
                <a:ea typeface="Times New Roman"/>
                <a:cs typeface="Times New Roman"/>
                <a:sym typeface="Times New Roman"/>
              </a:rPr>
              <a:t>. The robot is equipped </a:t>
            </a:r>
            <a:r>
              <a:rPr b="1" lang="en" sz="1300">
                <a:solidFill>
                  <a:schemeClr val="dk1"/>
                </a:solidFill>
                <a:latin typeface="Times New Roman"/>
                <a:ea typeface="Times New Roman"/>
                <a:cs typeface="Times New Roman"/>
                <a:sym typeface="Times New Roman"/>
              </a:rPr>
              <a:t>with a camera, ultrasonic sensors, and an onboard microcontroller</a:t>
            </a:r>
            <a:r>
              <a:rPr lang="en" sz="1300">
                <a:solidFill>
                  <a:schemeClr val="dk1"/>
                </a:solidFill>
                <a:latin typeface="Times New Roman"/>
                <a:ea typeface="Times New Roman"/>
                <a:cs typeface="Times New Roman"/>
                <a:sym typeface="Times New Roman"/>
              </a:rPr>
              <a:t> to</a:t>
            </a:r>
            <a:r>
              <a:rPr b="1" lang="en" sz="1300">
                <a:solidFill>
                  <a:schemeClr val="dk1"/>
                </a:solidFill>
                <a:latin typeface="Times New Roman"/>
                <a:ea typeface="Times New Roman"/>
                <a:cs typeface="Times New Roman"/>
                <a:sym typeface="Times New Roman"/>
              </a:rPr>
              <a:t> scan rooms, detect obstacles,</a:t>
            </a:r>
            <a:r>
              <a:rPr lang="en" sz="1300">
                <a:solidFill>
                  <a:schemeClr val="dk1"/>
                </a:solidFill>
                <a:latin typeface="Times New Roman"/>
                <a:ea typeface="Times New Roman"/>
                <a:cs typeface="Times New Roman"/>
                <a:sym typeface="Times New Roman"/>
              </a:rPr>
              <a:t> and </a:t>
            </a:r>
            <a:r>
              <a:rPr b="1" lang="en" sz="1300">
                <a:solidFill>
                  <a:schemeClr val="dk1"/>
                </a:solidFill>
                <a:latin typeface="Times New Roman"/>
                <a:ea typeface="Times New Roman"/>
                <a:cs typeface="Times New Roman"/>
                <a:sym typeface="Times New Roman"/>
              </a:rPr>
              <a:t>create a digital floor plan. </a:t>
            </a:r>
            <a:r>
              <a:rPr lang="en" sz="1300">
                <a:solidFill>
                  <a:schemeClr val="dk1"/>
                </a:solidFill>
                <a:latin typeface="Times New Roman"/>
                <a:ea typeface="Times New Roman"/>
                <a:cs typeface="Times New Roman"/>
                <a:sym typeface="Times New Roman"/>
              </a:rPr>
              <a:t>Using wireless connectivity, the robot can transmit collected data to a central system allowing real-time monitoring and control. The IoT integration ensures that the </a:t>
            </a:r>
            <a:r>
              <a:rPr b="1" lang="en" sz="1300">
                <a:solidFill>
                  <a:schemeClr val="dk1"/>
                </a:solidFill>
                <a:latin typeface="Times New Roman"/>
                <a:ea typeface="Times New Roman"/>
                <a:cs typeface="Times New Roman"/>
                <a:sym typeface="Times New Roman"/>
              </a:rPr>
              <a:t>robot can be remotely commanded</a:t>
            </a:r>
            <a:r>
              <a:rPr lang="en" sz="1300">
                <a:solidFill>
                  <a:schemeClr val="dk1"/>
                </a:solidFill>
                <a:latin typeface="Times New Roman"/>
                <a:ea typeface="Times New Roman"/>
                <a:cs typeface="Times New Roman"/>
                <a:sym typeface="Times New Roman"/>
              </a:rPr>
              <a:t> to </a:t>
            </a:r>
            <a:r>
              <a:rPr b="1" lang="en" sz="1300">
                <a:solidFill>
                  <a:schemeClr val="dk1"/>
                </a:solidFill>
                <a:latin typeface="Times New Roman"/>
                <a:ea typeface="Times New Roman"/>
                <a:cs typeface="Times New Roman"/>
                <a:sym typeface="Times New Roman"/>
              </a:rPr>
              <a:t>move to specific locations </a:t>
            </a:r>
            <a:r>
              <a:rPr lang="en" sz="1300">
                <a:solidFill>
                  <a:schemeClr val="dk1"/>
                </a:solidFill>
                <a:latin typeface="Times New Roman"/>
                <a:ea typeface="Times New Roman"/>
                <a:cs typeface="Times New Roman"/>
                <a:sym typeface="Times New Roman"/>
              </a:rPr>
              <a:t>or perform full coverage of the environment.</a:t>
            </a:r>
            <a:endParaRPr sz="13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The fusion of data from multiple sensors </a:t>
            </a:r>
            <a:r>
              <a:rPr b="1" lang="en" sz="1300">
                <a:solidFill>
                  <a:schemeClr val="dk1"/>
                </a:solidFill>
                <a:latin typeface="Times New Roman"/>
                <a:ea typeface="Times New Roman"/>
                <a:cs typeface="Times New Roman"/>
                <a:sym typeface="Times New Roman"/>
              </a:rPr>
              <a:t>(camera, ultrasonic, IMU-</a:t>
            </a:r>
            <a:r>
              <a:rPr b="1" lang="en" sz="1100">
                <a:solidFill>
                  <a:schemeClr val="dk1"/>
                </a:solidFill>
              </a:rPr>
              <a:t>Inertial Measurement Unit.</a:t>
            </a:r>
            <a:r>
              <a:rPr b="1" lang="en" sz="1300">
                <a:solidFill>
                  <a:schemeClr val="dk1"/>
                </a:solidFill>
                <a:latin typeface="Times New Roman"/>
                <a:ea typeface="Times New Roman"/>
                <a:cs typeface="Times New Roman"/>
                <a:sym typeface="Times New Roman"/>
              </a:rPr>
              <a:t>) </a:t>
            </a:r>
            <a:r>
              <a:rPr lang="en" sz="1300">
                <a:solidFill>
                  <a:schemeClr val="dk1"/>
                </a:solidFill>
                <a:latin typeface="Times New Roman"/>
                <a:ea typeface="Times New Roman"/>
                <a:cs typeface="Times New Roman"/>
                <a:sym typeface="Times New Roman"/>
              </a:rPr>
              <a:t>further improves reliability in cluttered spaces.</a:t>
            </a:r>
            <a:endParaRPr sz="13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 sz="1300">
                <a:solidFill>
                  <a:schemeClr val="dk1"/>
                </a:solidFill>
                <a:latin typeface="Times New Roman"/>
                <a:ea typeface="Times New Roman"/>
                <a:cs typeface="Times New Roman"/>
                <a:sym typeface="Times New Roman"/>
              </a:rPr>
              <a:t>By combining IoT connectivity, autonomous mapping, and intelligent obstacle handling, this project demonstrates a cost-effective and scalable solution for applications such as </a:t>
            </a:r>
            <a:r>
              <a:rPr b="1" lang="en" sz="1300">
                <a:solidFill>
                  <a:schemeClr val="dk1"/>
                </a:solidFill>
                <a:latin typeface="Times New Roman"/>
                <a:ea typeface="Times New Roman"/>
                <a:cs typeface="Times New Roman"/>
                <a:sym typeface="Times New Roman"/>
              </a:rPr>
              <a:t>Industry scale application,</a:t>
            </a:r>
            <a:r>
              <a:rPr b="1" lang="en">
                <a:solidFill>
                  <a:schemeClr val="dk1"/>
                </a:solidFill>
              </a:rPr>
              <a:t>c</a:t>
            </a:r>
            <a:r>
              <a:rPr b="1" lang="en" sz="1300">
                <a:solidFill>
                  <a:schemeClr val="dk1"/>
                </a:solidFill>
                <a:latin typeface="Times New Roman"/>
                <a:ea typeface="Times New Roman"/>
                <a:cs typeface="Times New Roman"/>
                <a:sym typeface="Times New Roman"/>
              </a:rPr>
              <a:t>leaning robots, indoor surveillance, and assistance in smart homes.</a:t>
            </a:r>
            <a:r>
              <a:rPr lang="en" sz="1300">
                <a:solidFill>
                  <a:schemeClr val="dk1"/>
                </a:solidFill>
                <a:latin typeface="Times New Roman"/>
                <a:ea typeface="Times New Roman"/>
                <a:cs typeface="Times New Roman"/>
                <a:sym typeface="Times New Roman"/>
              </a:rPr>
              <a:t> It highlights how IoT and AI together can improve efficiency, adaptability, and user interaction in robotics.</a:t>
            </a:r>
            <a:endParaRPr sz="1300">
              <a:solidFill>
                <a:schemeClr val="dk1"/>
              </a:solidFill>
              <a:latin typeface="Times New Roman"/>
              <a:ea typeface="Times New Roman"/>
              <a:cs typeface="Times New Roman"/>
              <a:sym typeface="Times New Roman"/>
            </a:endParaRPr>
          </a:p>
          <a:p>
            <a:pPr indent="0" lvl="0" marL="457200" rtl="0" algn="just">
              <a:lnSpc>
                <a:spcPct val="115000"/>
              </a:lnSpc>
              <a:spcBef>
                <a:spcPts val="1200"/>
              </a:spcBef>
              <a:spcAft>
                <a:spcPts val="0"/>
              </a:spcAft>
              <a:buNone/>
            </a:pPr>
            <a:r>
              <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nvSpPr>
        <p:spPr>
          <a:xfrm>
            <a:off x="739150" y="2240850"/>
            <a:ext cx="7347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FF0000"/>
              </a:solidFill>
              <a:latin typeface="Arial"/>
              <a:ea typeface="Arial"/>
              <a:cs typeface="Arial"/>
              <a:sym typeface="Arial"/>
            </a:endParaRPr>
          </a:p>
        </p:txBody>
      </p:sp>
      <p:sp>
        <p:nvSpPr>
          <p:cNvPr id="82" name="Google Shape;82;p17"/>
          <p:cNvSpPr/>
          <p:nvPr/>
        </p:nvSpPr>
        <p:spPr>
          <a:xfrm>
            <a:off x="2329132" y="381270"/>
            <a:ext cx="4179600" cy="4668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1" i="0" sz="1400" u="none" cap="none" strike="noStrike">
              <a:solidFill>
                <a:srgbClr val="D7AC54"/>
              </a:solidFill>
              <a:latin typeface="Cantarell"/>
              <a:ea typeface="Cantarell"/>
              <a:cs typeface="Cantarell"/>
              <a:sym typeface="Cantarell"/>
            </a:endParaRPr>
          </a:p>
          <a:p>
            <a:pPr indent="0" lvl="0" marL="0" marR="0" rtl="0" algn="ctr">
              <a:lnSpc>
                <a:spcPct val="100000"/>
              </a:lnSpc>
              <a:spcBef>
                <a:spcPts val="0"/>
              </a:spcBef>
              <a:spcAft>
                <a:spcPts val="0"/>
              </a:spcAft>
              <a:buNone/>
            </a:pPr>
            <a:r>
              <a:rPr b="1" i="0" lang="en" sz="1400" u="none" cap="none" strike="noStrike">
                <a:solidFill>
                  <a:srgbClr val="D7AC54"/>
                </a:solidFill>
                <a:latin typeface="Cantarell"/>
                <a:ea typeface="Cantarell"/>
                <a:cs typeface="Cantarell"/>
                <a:sym typeface="Cantarell"/>
              </a:rPr>
              <a:t>Objective of Project</a:t>
            </a:r>
            <a:endParaRPr/>
          </a:p>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D7AC54"/>
                </a:solidFill>
                <a:latin typeface="Cantarell"/>
                <a:ea typeface="Cantarell"/>
                <a:cs typeface="Cantarell"/>
                <a:sym typeface="Cantarell"/>
              </a:rPr>
              <a:t>  </a:t>
            </a:r>
            <a:endParaRPr b="1" i="0" sz="1400" u="none" cap="none" strike="noStrike">
              <a:solidFill>
                <a:srgbClr val="D7AC54"/>
              </a:solidFill>
              <a:latin typeface="Cantarell"/>
              <a:ea typeface="Cantarell"/>
              <a:cs typeface="Cantarell"/>
              <a:sym typeface="Cantarell"/>
            </a:endParaRPr>
          </a:p>
        </p:txBody>
      </p:sp>
      <p:sp>
        <p:nvSpPr>
          <p:cNvPr id="83" name="Google Shape;83;p17"/>
          <p:cNvSpPr txBox="1"/>
          <p:nvPr/>
        </p:nvSpPr>
        <p:spPr>
          <a:xfrm>
            <a:off x="649650" y="1440575"/>
            <a:ext cx="7844700" cy="35247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1"/>
              </a:buClr>
              <a:buSzPts val="1900"/>
              <a:buFont typeface="Times New Roman"/>
              <a:buChar char="●"/>
            </a:pPr>
            <a:r>
              <a:rPr lang="en" sz="1900">
                <a:solidFill>
                  <a:schemeClr val="dk1"/>
                </a:solidFill>
                <a:latin typeface="Times New Roman"/>
                <a:ea typeface="Times New Roman"/>
                <a:cs typeface="Times New Roman"/>
                <a:sym typeface="Times New Roman"/>
              </a:rPr>
              <a:t>To Develop an IOT based robot that </a:t>
            </a:r>
            <a:r>
              <a:rPr lang="en" sz="1900">
                <a:solidFill>
                  <a:schemeClr val="dk1"/>
                </a:solidFill>
                <a:latin typeface="Times New Roman"/>
                <a:ea typeface="Times New Roman"/>
                <a:cs typeface="Times New Roman"/>
                <a:sym typeface="Times New Roman"/>
              </a:rPr>
              <a:t>uses Differential Drive for autonomous indoor navigation and mapping.</a:t>
            </a:r>
            <a:endParaRPr sz="19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900">
              <a:solidFill>
                <a:schemeClr val="dk1"/>
              </a:solidFill>
              <a:latin typeface="Times New Roman"/>
              <a:ea typeface="Times New Roman"/>
              <a:cs typeface="Times New Roman"/>
              <a:sym typeface="Times New Roman"/>
            </a:endParaRPr>
          </a:p>
          <a:p>
            <a:pPr indent="-349250" lvl="0" marL="457200" rtl="0" algn="l">
              <a:spcBef>
                <a:spcPts val="0"/>
              </a:spcBef>
              <a:spcAft>
                <a:spcPts val="0"/>
              </a:spcAft>
              <a:buClr>
                <a:schemeClr val="dk1"/>
              </a:buClr>
              <a:buSzPts val="1900"/>
              <a:buFont typeface="Times New Roman"/>
              <a:buChar char="●"/>
            </a:pPr>
            <a:r>
              <a:rPr lang="en" sz="1900">
                <a:solidFill>
                  <a:schemeClr val="dk1"/>
                </a:solidFill>
                <a:latin typeface="Times New Roman"/>
                <a:ea typeface="Times New Roman"/>
                <a:cs typeface="Times New Roman"/>
                <a:sym typeface="Times New Roman"/>
              </a:rPr>
              <a:t>Real-Time Monitoring and control through IOT connectivity</a:t>
            </a:r>
            <a:endParaRPr sz="19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900">
              <a:solidFill>
                <a:schemeClr val="dk1"/>
              </a:solidFill>
              <a:latin typeface="Times New Roman"/>
              <a:ea typeface="Times New Roman"/>
              <a:cs typeface="Times New Roman"/>
              <a:sym typeface="Times New Roman"/>
            </a:endParaRPr>
          </a:p>
          <a:p>
            <a:pPr indent="-349250" lvl="0" marL="457200" rtl="0" algn="l">
              <a:spcBef>
                <a:spcPts val="0"/>
              </a:spcBef>
              <a:spcAft>
                <a:spcPts val="0"/>
              </a:spcAft>
              <a:buClr>
                <a:schemeClr val="dk1"/>
              </a:buClr>
              <a:buSzPts val="1900"/>
              <a:buFont typeface="Times New Roman"/>
              <a:buChar char="●"/>
            </a:pPr>
            <a:r>
              <a:rPr lang="en" sz="1900">
                <a:solidFill>
                  <a:schemeClr val="dk1"/>
                </a:solidFill>
                <a:latin typeface="Times New Roman"/>
                <a:ea typeface="Times New Roman"/>
                <a:cs typeface="Times New Roman"/>
                <a:sym typeface="Times New Roman"/>
              </a:rPr>
              <a:t>Human-robot interaction via Voice Commands using AI speech-to-intent </a:t>
            </a:r>
            <a:endParaRPr sz="19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9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nvSpPr>
        <p:spPr>
          <a:xfrm>
            <a:off x="739150" y="2240850"/>
            <a:ext cx="7347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FF0000"/>
              </a:solidFill>
              <a:latin typeface="Arial"/>
              <a:ea typeface="Arial"/>
              <a:cs typeface="Arial"/>
              <a:sym typeface="Arial"/>
            </a:endParaRPr>
          </a:p>
        </p:txBody>
      </p:sp>
      <p:sp>
        <p:nvSpPr>
          <p:cNvPr id="89" name="Google Shape;89;p18"/>
          <p:cNvSpPr/>
          <p:nvPr/>
        </p:nvSpPr>
        <p:spPr>
          <a:xfrm>
            <a:off x="2329132" y="381270"/>
            <a:ext cx="4179600" cy="4668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D7AC54"/>
                </a:solidFill>
                <a:latin typeface="Cantarell"/>
                <a:ea typeface="Cantarell"/>
                <a:cs typeface="Cantarell"/>
                <a:sym typeface="Cantarell"/>
              </a:rPr>
              <a:t>Introduction  </a:t>
            </a:r>
            <a:endParaRPr b="1" i="0" sz="1400" u="none" cap="none" strike="noStrike">
              <a:solidFill>
                <a:srgbClr val="D7AC54"/>
              </a:solidFill>
              <a:latin typeface="Cantarell"/>
              <a:ea typeface="Cantarell"/>
              <a:cs typeface="Cantarell"/>
              <a:sym typeface="Cantarell"/>
            </a:endParaRPr>
          </a:p>
        </p:txBody>
      </p:sp>
      <p:sp>
        <p:nvSpPr>
          <p:cNvPr id="90" name="Google Shape;90;p18"/>
          <p:cNvSpPr txBox="1"/>
          <p:nvPr/>
        </p:nvSpPr>
        <p:spPr>
          <a:xfrm>
            <a:off x="2348575" y="2436700"/>
            <a:ext cx="5517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91" name="Google Shape;91;p18"/>
          <p:cNvSpPr txBox="1"/>
          <p:nvPr/>
        </p:nvSpPr>
        <p:spPr>
          <a:xfrm>
            <a:off x="614925" y="952075"/>
            <a:ext cx="7854000" cy="3553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1700">
                <a:solidFill>
                  <a:schemeClr val="dk1"/>
                </a:solidFill>
                <a:latin typeface="Times New Roman"/>
                <a:ea typeface="Times New Roman"/>
                <a:cs typeface="Times New Roman"/>
                <a:sym typeface="Times New Roman"/>
              </a:rPr>
              <a:t>Robotics and the Internet of Things (IoT) are rapidly converging to create intelligent systems capable of performing complex tasks with minimal human intervention.</a:t>
            </a:r>
            <a:r>
              <a:rPr b="1" lang="en" sz="1700">
                <a:solidFill>
                  <a:schemeClr val="dk1"/>
                </a:solidFill>
                <a:latin typeface="Times New Roman"/>
                <a:ea typeface="Times New Roman"/>
                <a:cs typeface="Times New Roman"/>
                <a:sym typeface="Times New Roman"/>
              </a:rPr>
              <a:t> Indoor environments, such as homes, offices, and healthcare facilities, demand advanced robotic solutions that can navigate autonomously, avoid obstacles, and map surroundings with high accuracy. Differential-drive robots,</a:t>
            </a:r>
            <a:r>
              <a:rPr lang="en" sz="1700">
                <a:solidFill>
                  <a:schemeClr val="dk1"/>
                </a:solidFill>
                <a:latin typeface="Times New Roman"/>
                <a:ea typeface="Times New Roman"/>
                <a:cs typeface="Times New Roman"/>
                <a:sym typeface="Times New Roman"/>
              </a:rPr>
              <a:t> due to their simple yet effective design, are </a:t>
            </a:r>
            <a:r>
              <a:rPr b="1" lang="en" sz="1700">
                <a:solidFill>
                  <a:schemeClr val="dk1"/>
                </a:solidFill>
                <a:latin typeface="Times New Roman"/>
                <a:ea typeface="Times New Roman"/>
                <a:cs typeface="Times New Roman"/>
                <a:sym typeface="Times New Roman"/>
              </a:rPr>
              <a:t>widely adopted for such applications</a:t>
            </a:r>
            <a:r>
              <a:rPr lang="en" sz="1700">
                <a:solidFill>
                  <a:schemeClr val="dk1"/>
                </a:solidFill>
                <a:latin typeface="Times New Roman"/>
                <a:ea typeface="Times New Roman"/>
                <a:cs typeface="Times New Roman"/>
                <a:sym typeface="Times New Roman"/>
              </a:rPr>
              <a:t>. By integrating IoT connectivity and sensor fusion, these robots can not only operate independently but also communicate data in real time for monitoring and control. This project aims to design and implement an IoT-enabled differential-drive robot that leverages sensors and AI techniques to achieve reliable indoor navigation and environment mapping, offering a scalable solution for Industries, smart home, cleaning, and surveillance applications.</a:t>
            </a:r>
            <a:endParaRPr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p:nvPr/>
        </p:nvSpPr>
        <p:spPr>
          <a:xfrm>
            <a:off x="7199900" y="87850"/>
            <a:ext cx="1944000" cy="918900"/>
          </a:xfrm>
          <a:prstGeom prst="rect">
            <a:avLst/>
          </a:prstGeom>
          <a:solidFill>
            <a:srgbClr val="FDFBF9"/>
          </a:solidFill>
          <a:ln cap="flat" cmpd="sng" w="9525">
            <a:solidFill>
              <a:srgbClr val="FDFBF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 name="Google Shape;97;p19"/>
          <p:cNvSpPr txBox="1"/>
          <p:nvPr/>
        </p:nvSpPr>
        <p:spPr>
          <a:xfrm>
            <a:off x="739150" y="2240850"/>
            <a:ext cx="7347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FF0000"/>
              </a:solidFill>
              <a:latin typeface="Arial"/>
              <a:ea typeface="Arial"/>
              <a:cs typeface="Arial"/>
              <a:sym typeface="Arial"/>
            </a:endParaRPr>
          </a:p>
        </p:txBody>
      </p:sp>
      <p:sp>
        <p:nvSpPr>
          <p:cNvPr id="98" name="Google Shape;98;p19"/>
          <p:cNvSpPr/>
          <p:nvPr/>
        </p:nvSpPr>
        <p:spPr>
          <a:xfrm>
            <a:off x="2323307" y="-197355"/>
            <a:ext cx="4179600" cy="4668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D7AC54"/>
                </a:solidFill>
                <a:latin typeface="Cantarell"/>
                <a:ea typeface="Cantarell"/>
                <a:cs typeface="Cantarell"/>
                <a:sym typeface="Cantarell"/>
              </a:rPr>
              <a:t>Literature Survey </a:t>
            </a:r>
            <a:endParaRPr b="1" i="0" sz="1400" u="none" cap="none" strike="noStrike">
              <a:solidFill>
                <a:srgbClr val="D7AC54"/>
              </a:solidFill>
              <a:latin typeface="Cantarell"/>
              <a:ea typeface="Cantarell"/>
              <a:cs typeface="Cantarell"/>
              <a:sym typeface="Cantarell"/>
            </a:endParaRPr>
          </a:p>
        </p:txBody>
      </p:sp>
      <p:graphicFrame>
        <p:nvGraphicFramePr>
          <p:cNvPr id="99" name="Google Shape;99;p19"/>
          <p:cNvGraphicFramePr/>
          <p:nvPr/>
        </p:nvGraphicFramePr>
        <p:xfrm>
          <a:off x="-17830" y="269450"/>
          <a:ext cx="3000000" cy="3000000"/>
        </p:xfrm>
        <a:graphic>
          <a:graphicData uri="http://schemas.openxmlformats.org/drawingml/2006/table">
            <a:tbl>
              <a:tblPr>
                <a:noFill/>
                <a:tableStyleId>{3A2A4B69-044F-4C2A-8AB1-694C089AA89F}</a:tableStyleId>
              </a:tblPr>
              <a:tblGrid>
                <a:gridCol w="1553850"/>
                <a:gridCol w="2824350"/>
                <a:gridCol w="1750225"/>
                <a:gridCol w="1506225"/>
                <a:gridCol w="1509350"/>
              </a:tblGrid>
              <a:tr h="439775">
                <a:tc>
                  <a:txBody>
                    <a:bodyPr/>
                    <a:lstStyle/>
                    <a:p>
                      <a:pPr indent="0" lvl="0" marL="0" rtl="0" algn="l">
                        <a:spcBef>
                          <a:spcPts val="0"/>
                        </a:spcBef>
                        <a:spcAft>
                          <a:spcPts val="0"/>
                        </a:spcAft>
                        <a:buNone/>
                      </a:pPr>
                      <a:r>
                        <a:rPr lang="en" sz="1100"/>
                        <a:t>Research </a:t>
                      </a:r>
                      <a:r>
                        <a:rPr lang="en" sz="1100"/>
                        <a:t>Resources</a:t>
                      </a:r>
                      <a:endParaRPr sz="1100"/>
                    </a:p>
                  </a:txBody>
                  <a:tcPr marT="91425" marB="91425" marR="91425" marL="91425"/>
                </a:tc>
                <a:tc>
                  <a:txBody>
                    <a:bodyPr/>
                    <a:lstStyle/>
                    <a:p>
                      <a:pPr indent="0" lvl="0" marL="0" rtl="0" algn="l">
                        <a:spcBef>
                          <a:spcPts val="0"/>
                        </a:spcBef>
                        <a:spcAft>
                          <a:spcPts val="0"/>
                        </a:spcAft>
                        <a:buNone/>
                      </a:pPr>
                      <a:r>
                        <a:rPr lang="en" sz="1100"/>
                        <a:t>Key Contributions</a:t>
                      </a:r>
                      <a:endParaRPr sz="1100"/>
                    </a:p>
                  </a:txBody>
                  <a:tcPr marT="91425" marB="91425" marR="91425" marL="91425"/>
                </a:tc>
                <a:tc>
                  <a:txBody>
                    <a:bodyPr/>
                    <a:lstStyle/>
                    <a:p>
                      <a:pPr indent="0" lvl="0" marL="0" rtl="0" algn="l">
                        <a:spcBef>
                          <a:spcPts val="0"/>
                        </a:spcBef>
                        <a:spcAft>
                          <a:spcPts val="0"/>
                        </a:spcAft>
                        <a:buNone/>
                      </a:pPr>
                      <a:r>
                        <a:rPr lang="en" sz="1100"/>
                        <a:t>Relevant Sensors Used</a:t>
                      </a:r>
                      <a:endParaRPr sz="1100"/>
                    </a:p>
                  </a:txBody>
                  <a:tcPr marT="91425" marB="91425" marR="91425" marL="91425"/>
                </a:tc>
                <a:tc>
                  <a:txBody>
                    <a:bodyPr/>
                    <a:lstStyle/>
                    <a:p>
                      <a:pPr indent="0" lvl="0" marL="0" rtl="0" algn="l">
                        <a:spcBef>
                          <a:spcPts val="0"/>
                        </a:spcBef>
                        <a:spcAft>
                          <a:spcPts val="0"/>
                        </a:spcAft>
                        <a:buNone/>
                      </a:pPr>
                      <a:r>
                        <a:rPr lang="en" sz="1100"/>
                        <a:t>Mapping/Localization Method</a:t>
                      </a:r>
                      <a:endParaRPr sz="1100"/>
                    </a:p>
                  </a:txBody>
                  <a:tcPr marT="91425" marB="91425" marR="91425" marL="91425"/>
                </a:tc>
                <a:tc>
                  <a:txBody>
                    <a:bodyPr/>
                    <a:lstStyle/>
                    <a:p>
                      <a:pPr indent="0" lvl="0" marL="0" rtl="0" algn="l">
                        <a:spcBef>
                          <a:spcPts val="0"/>
                        </a:spcBef>
                        <a:spcAft>
                          <a:spcPts val="0"/>
                        </a:spcAft>
                        <a:buNone/>
                      </a:pPr>
                      <a:r>
                        <a:rPr lang="en" sz="1100"/>
                        <a:t>Technical Focus/Platform</a:t>
                      </a:r>
                      <a:endParaRPr sz="1100"/>
                    </a:p>
                  </a:txBody>
                  <a:tcPr marT="91425" marB="91425" marR="91425" marL="91425"/>
                </a:tc>
              </a:tr>
              <a:tr h="750300">
                <a:tc>
                  <a:txBody>
                    <a:bodyPr/>
                    <a:lstStyle/>
                    <a:p>
                      <a:pPr indent="0" lvl="0" marL="0" rtl="0" algn="l">
                        <a:spcBef>
                          <a:spcPts val="0"/>
                        </a:spcBef>
                        <a:spcAft>
                          <a:spcPts val="0"/>
                        </a:spcAft>
                        <a:buNone/>
                      </a:pPr>
                      <a:r>
                        <a:rPr b="1" lang="en" sz="800"/>
                        <a:t>A Sensor Data Fusion Algorithm for Indoor SLAM Using a Low-Cost Mobile Robot</a:t>
                      </a:r>
                      <a:r>
                        <a:rPr lang="en" sz="800"/>
                        <a:t> </a:t>
                      </a:r>
                      <a:endParaRPr sz="800"/>
                    </a:p>
                  </a:txBody>
                  <a:tcPr marT="91425" marB="91425" marR="91425" marL="91425"/>
                </a:tc>
                <a:tc>
                  <a:txBody>
                    <a:bodyPr/>
                    <a:lstStyle/>
                    <a:p>
                      <a:pPr indent="0" lvl="0" marL="0" rtl="0" algn="l">
                        <a:spcBef>
                          <a:spcPts val="0"/>
                        </a:spcBef>
                        <a:spcAft>
                          <a:spcPts val="0"/>
                        </a:spcAft>
                        <a:buNone/>
                      </a:pPr>
                      <a:r>
                        <a:rPr lang="en" sz="800"/>
                        <a:t>Proposes a fusion algorithm for heterogeneous low-cost sensors (webcam, IR, ultrasonic); Employs a </a:t>
                      </a:r>
                      <a:r>
                        <a:rPr b="1" lang="en" sz="800"/>
                        <a:t>Particle Filter</a:t>
                      </a:r>
                      <a:r>
                        <a:rPr lang="en" sz="800"/>
                        <a:t> approach to solve SLAM, robust against sensor noise; Focuses on detecting </a:t>
                      </a:r>
                      <a:r>
                        <a:rPr b="1" lang="en" sz="800"/>
                        <a:t>straight line segments</a:t>
                      </a:r>
                      <a:r>
                        <a:rPr lang="en" sz="800"/>
                        <a:t> for better geometric representation on the map.</a:t>
                      </a:r>
                      <a:endParaRPr sz="800"/>
                    </a:p>
                  </a:txBody>
                  <a:tcPr marT="91425" marB="91425" marR="91425" marL="91425"/>
                </a:tc>
                <a:tc>
                  <a:txBody>
                    <a:bodyPr/>
                    <a:lstStyle/>
                    <a:p>
                      <a:pPr indent="0" lvl="0" marL="0" rtl="0" algn="l">
                        <a:spcBef>
                          <a:spcPts val="0"/>
                        </a:spcBef>
                        <a:spcAft>
                          <a:spcPts val="0"/>
                        </a:spcAft>
                        <a:buNone/>
                      </a:pPr>
                      <a:r>
                        <a:rPr lang="en" sz="800"/>
                        <a:t>Webcam (Visual Sensor with Laser Pointer), Ultrasonic TOF Sensor, Two Infrared Sensors </a:t>
                      </a:r>
                      <a:endParaRPr sz="800"/>
                    </a:p>
                  </a:txBody>
                  <a:tcPr marT="91425" marB="91425" marR="91425" marL="91425"/>
                </a:tc>
                <a:tc>
                  <a:txBody>
                    <a:bodyPr/>
                    <a:lstStyle/>
                    <a:p>
                      <a:pPr indent="0" lvl="0" marL="0" rtl="0" algn="l">
                        <a:spcBef>
                          <a:spcPts val="0"/>
                        </a:spcBef>
                        <a:spcAft>
                          <a:spcPts val="0"/>
                        </a:spcAft>
                        <a:buNone/>
                      </a:pPr>
                      <a:r>
                        <a:rPr lang="en" sz="800"/>
                        <a:t>Particle Filter (Probabilistic SLAM); Occupancy Grid Mapping </a:t>
                      </a:r>
                      <a:endParaRPr sz="800"/>
                    </a:p>
                  </a:txBody>
                  <a:tcPr marT="91425" marB="91425" marR="91425" marL="91425"/>
                </a:tc>
                <a:tc>
                  <a:txBody>
                    <a:bodyPr/>
                    <a:lstStyle/>
                    <a:p>
                      <a:pPr indent="0" lvl="0" marL="0" rtl="0" algn="l">
                        <a:spcBef>
                          <a:spcPts val="0"/>
                        </a:spcBef>
                        <a:spcAft>
                          <a:spcPts val="0"/>
                        </a:spcAft>
                        <a:buNone/>
                      </a:pPr>
                      <a:r>
                        <a:rPr lang="en" sz="800"/>
                        <a:t>Low-cost mobile robot; Demonstrates indoor mapping using fusion of visual, acoustic, and IR data.</a:t>
                      </a:r>
                      <a:endParaRPr sz="800"/>
                    </a:p>
                  </a:txBody>
                  <a:tcPr marT="91425" marB="91425" marR="91425" marL="91425"/>
                </a:tc>
              </a:tr>
              <a:tr h="654125">
                <a:tc>
                  <a:txBody>
                    <a:bodyPr/>
                    <a:lstStyle/>
                    <a:p>
                      <a:pPr indent="0" lvl="0" marL="0" rtl="0" algn="l">
                        <a:spcBef>
                          <a:spcPts val="0"/>
                        </a:spcBef>
                        <a:spcAft>
                          <a:spcPts val="0"/>
                        </a:spcAft>
                        <a:buNone/>
                      </a:pPr>
                      <a:r>
                        <a:rPr b="1" lang="en" sz="800"/>
                        <a:t>Occupancy Grid Extension for Ultrasound Sensor and Wheel Encoders SLAM</a:t>
                      </a:r>
                      <a:r>
                        <a:rPr lang="en" sz="800"/>
                        <a:t> </a:t>
                      </a:r>
                      <a:endParaRPr sz="800"/>
                    </a:p>
                  </a:txBody>
                  <a:tcPr marT="91425" marB="91425" marR="91425" marL="91425"/>
                </a:tc>
                <a:tc>
                  <a:txBody>
                    <a:bodyPr/>
                    <a:lstStyle/>
                    <a:p>
                      <a:pPr indent="0" lvl="0" marL="0" rtl="0" algn="l">
                        <a:spcBef>
                          <a:spcPts val="0"/>
                        </a:spcBef>
                        <a:spcAft>
                          <a:spcPts val="0"/>
                        </a:spcAft>
                        <a:buNone/>
                      </a:pPr>
                      <a:r>
                        <a:rPr lang="en" sz="800"/>
                        <a:t>Extends the Occupancy Grid model to specifically compensate for the </a:t>
                      </a:r>
                      <a:r>
                        <a:rPr b="1" lang="en" sz="800"/>
                        <a:t>wide beam and specular reflection</a:t>
                      </a:r>
                      <a:r>
                        <a:rPr lang="en" sz="800"/>
                        <a:t> problems of ultrasonic sensors by factoring in the sensor's angle of incidence.</a:t>
                      </a:r>
                      <a:endParaRPr sz="800"/>
                    </a:p>
                  </a:txBody>
                  <a:tcPr marT="91425" marB="91425" marR="91425" marL="91425"/>
                </a:tc>
                <a:tc>
                  <a:txBody>
                    <a:bodyPr/>
                    <a:lstStyle/>
                    <a:p>
                      <a:pPr indent="0" lvl="0" marL="0" rtl="0" algn="l">
                        <a:spcBef>
                          <a:spcPts val="0"/>
                        </a:spcBef>
                        <a:spcAft>
                          <a:spcPts val="0"/>
                        </a:spcAft>
                        <a:buNone/>
                      </a:pPr>
                      <a:r>
                        <a:rPr lang="en" sz="800"/>
                        <a:t>Single Ultrasonic Sensor, Wheel Encoders (Odometry) </a:t>
                      </a:r>
                      <a:endParaRPr sz="800"/>
                    </a:p>
                  </a:txBody>
                  <a:tcPr marT="91425" marB="91425" marR="91425" marL="91425"/>
                </a:tc>
                <a:tc>
                  <a:txBody>
                    <a:bodyPr/>
                    <a:lstStyle/>
                    <a:p>
                      <a:pPr indent="0" lvl="0" marL="0" rtl="0" algn="l">
                        <a:spcBef>
                          <a:spcPts val="0"/>
                        </a:spcBef>
                        <a:spcAft>
                          <a:spcPts val="0"/>
                        </a:spcAft>
                        <a:buNone/>
                      </a:pPr>
                      <a:r>
                        <a:rPr lang="en" sz="800"/>
                        <a:t>Particle Filter for Pose Estimation; Extended Occupancy Grid Mapping (Metric Map) </a:t>
                      </a:r>
                      <a:endParaRPr sz="800"/>
                    </a:p>
                  </a:txBody>
                  <a:tcPr marT="91425" marB="91425" marR="91425" marL="91425"/>
                </a:tc>
                <a:tc>
                  <a:txBody>
                    <a:bodyPr/>
                    <a:lstStyle/>
                    <a:p>
                      <a:pPr indent="0" lvl="0" marL="0" rtl="0" algn="l">
                        <a:spcBef>
                          <a:spcPts val="0"/>
                        </a:spcBef>
                        <a:spcAft>
                          <a:spcPts val="0"/>
                        </a:spcAft>
                        <a:buNone/>
                      </a:pPr>
                      <a:r>
                        <a:rPr lang="en" sz="800"/>
                        <a:t>Essential work on mitigating the primary limitations (low resolution/missed detection) of cheap ultrasonic sensors in mapping.</a:t>
                      </a:r>
                      <a:endParaRPr sz="800"/>
                    </a:p>
                  </a:txBody>
                  <a:tcPr marT="91425" marB="91425" marR="91425" marL="91425"/>
                </a:tc>
              </a:tr>
              <a:tr h="775650">
                <a:tc>
                  <a:txBody>
                    <a:bodyPr/>
                    <a:lstStyle/>
                    <a:p>
                      <a:pPr indent="0" lvl="0" marL="0" rtl="0" algn="l">
                        <a:spcBef>
                          <a:spcPts val="0"/>
                        </a:spcBef>
                        <a:spcAft>
                          <a:spcPts val="0"/>
                        </a:spcAft>
                        <a:buNone/>
                      </a:pPr>
                      <a:r>
                        <a:rPr b="1" lang="en" sz="800"/>
                        <a:t>Comparison of Monocular ROS-Based Visual SLAM Methods</a:t>
                      </a:r>
                      <a:r>
                        <a:rPr lang="en" sz="800"/>
                        <a:t> </a:t>
                      </a:r>
                      <a:endParaRPr sz="800"/>
                    </a:p>
                    <a:p>
                      <a:pPr indent="0" lvl="0" marL="0" rtl="0" algn="l">
                        <a:spcBef>
                          <a:spcPts val="0"/>
                        </a:spcBef>
                        <a:spcAft>
                          <a:spcPts val="0"/>
                        </a:spcAft>
                        <a:buNone/>
                      </a:pPr>
                      <a:r>
                        <a:t/>
                      </a:r>
                      <a:endParaRPr sz="800"/>
                    </a:p>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rPr lang="en" sz="800"/>
                        <a:t>Provides a quantitative performance comparison of popular monocular VSLAM algorithms (e.g., </a:t>
                      </a:r>
                      <a:r>
                        <a:rPr b="1" lang="en" sz="800"/>
                        <a:t>ORB-SLAM2, ORB-SLAM3, DSO, and LDSO</a:t>
                      </a:r>
                      <a:r>
                        <a:rPr lang="en" sz="800"/>
                        <a:t>) for ROS platforms; Measures accuracy using metrics like Absolute Trajectory Error (ATE).</a:t>
                      </a:r>
                      <a:endParaRPr sz="800"/>
                    </a:p>
                  </a:txBody>
                  <a:tcPr marT="91425" marB="91425" marR="91425" marL="91425"/>
                </a:tc>
                <a:tc>
                  <a:txBody>
                    <a:bodyPr/>
                    <a:lstStyle/>
                    <a:p>
                      <a:pPr indent="0" lvl="0" marL="0" rtl="0" algn="l">
                        <a:spcBef>
                          <a:spcPts val="0"/>
                        </a:spcBef>
                        <a:spcAft>
                          <a:spcPts val="0"/>
                        </a:spcAft>
                        <a:buNone/>
                      </a:pPr>
                      <a:r>
                        <a:rPr lang="en" sz="800"/>
                        <a:t>Monocular Camera (Visual Sensors) </a:t>
                      </a:r>
                      <a:endParaRPr sz="800"/>
                    </a:p>
                  </a:txBody>
                  <a:tcPr marT="91425" marB="91425" marR="91425" marL="91425"/>
                </a:tc>
                <a:tc>
                  <a:txBody>
                    <a:bodyPr/>
                    <a:lstStyle/>
                    <a:p>
                      <a:pPr indent="0" lvl="0" marL="0" rtl="0" algn="l">
                        <a:spcBef>
                          <a:spcPts val="0"/>
                        </a:spcBef>
                        <a:spcAft>
                          <a:spcPts val="0"/>
                        </a:spcAft>
                        <a:buNone/>
                      </a:pPr>
                      <a:r>
                        <a:rPr lang="en" sz="800"/>
                        <a:t>Visual SLAM (Feature-based vs. Direct Methods); ROS-based Implementation </a:t>
                      </a:r>
                      <a:endParaRPr sz="800"/>
                    </a:p>
                  </a:txBody>
                  <a:tcPr marT="91425" marB="91425" marR="91425" marL="91425"/>
                </a:tc>
                <a:tc>
                  <a:txBody>
                    <a:bodyPr/>
                    <a:lstStyle/>
                    <a:p>
                      <a:pPr indent="0" lvl="0" marL="0" rtl="0" algn="l">
                        <a:spcBef>
                          <a:spcPts val="0"/>
                        </a:spcBef>
                        <a:spcAft>
                          <a:spcPts val="0"/>
                        </a:spcAft>
                        <a:buNone/>
                      </a:pPr>
                      <a:r>
                        <a:rPr lang="en" sz="800"/>
                        <a:t>Benchmark for choosing the most accurate monocular visual algorithm for localization (to reduce map drift).</a:t>
                      </a:r>
                      <a:endParaRPr sz="800"/>
                    </a:p>
                  </a:txBody>
                  <a:tcPr marT="91425" marB="91425" marR="91425" marL="91425"/>
                </a:tc>
              </a:tr>
              <a:tr h="643150">
                <a:tc>
                  <a:txBody>
                    <a:bodyPr/>
                    <a:lstStyle/>
                    <a:p>
                      <a:pPr indent="0" lvl="0" marL="0" rtl="0" algn="l">
                        <a:spcBef>
                          <a:spcPts val="0"/>
                        </a:spcBef>
                        <a:spcAft>
                          <a:spcPts val="0"/>
                        </a:spcAft>
                        <a:buNone/>
                      </a:pPr>
                      <a:r>
                        <a:rPr b="1" lang="en" sz="800"/>
                        <a:t>Ultrasonic-SLAM</a:t>
                      </a:r>
                      <a:r>
                        <a:rPr lang="en" sz="800"/>
                        <a:t> (GitHub Project/Library) </a:t>
                      </a:r>
                      <a:endParaRPr sz="800"/>
                    </a:p>
                    <a:p>
                      <a:pPr indent="0" lvl="0" marL="0" rtl="0" algn="l">
                        <a:spcBef>
                          <a:spcPts val="0"/>
                        </a:spcBef>
                        <a:spcAft>
                          <a:spcPts val="0"/>
                        </a:spcAft>
                        <a:buNone/>
                      </a:pPr>
                      <a:r>
                        <a:t/>
                      </a:r>
                      <a:endParaRPr sz="800"/>
                    </a:p>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rPr lang="en" sz="800"/>
                        <a:t>An ultra-low-cost, resource-minimal library for devices like </a:t>
                      </a:r>
                      <a:r>
                        <a:rPr b="1" lang="en" sz="800"/>
                        <a:t>Arduino or ESP</a:t>
                      </a:r>
                      <a:r>
                        <a:rPr lang="en" sz="800"/>
                        <a:t>; Achieves localization by calculating distance based on the board's uptime and constant car speed, bypassing the need for encoders.7</a:t>
                      </a:r>
                      <a:endParaRPr sz="800"/>
                    </a:p>
                  </a:txBody>
                  <a:tcPr marT="91425" marB="91425" marR="91425" marL="91425"/>
                </a:tc>
                <a:tc>
                  <a:txBody>
                    <a:bodyPr/>
                    <a:lstStyle/>
                    <a:p>
                      <a:pPr indent="0" lvl="0" marL="0" rtl="0" algn="l">
                        <a:spcBef>
                          <a:spcPts val="0"/>
                        </a:spcBef>
                        <a:spcAft>
                          <a:spcPts val="0"/>
                        </a:spcAft>
                        <a:buNone/>
                      </a:pPr>
                      <a:r>
                        <a:rPr lang="en" sz="800"/>
                        <a:t>Single Ultrasonic Sensor (HC-SR04), Servo Motor </a:t>
                      </a:r>
                      <a:endParaRPr sz="800"/>
                    </a:p>
                  </a:txBody>
                  <a:tcPr marT="91425" marB="91425" marR="91425" marL="91425"/>
                </a:tc>
                <a:tc>
                  <a:txBody>
                    <a:bodyPr/>
                    <a:lstStyle/>
                    <a:p>
                      <a:pPr indent="0" lvl="0" marL="0" rtl="0" algn="l">
                        <a:spcBef>
                          <a:spcPts val="0"/>
                        </a:spcBef>
                        <a:spcAft>
                          <a:spcPts val="0"/>
                        </a:spcAft>
                        <a:buNone/>
                      </a:pPr>
                      <a:r>
                        <a:rPr lang="en" sz="800"/>
                        <a:t>Custom, non-ROS mapping algorithm; Map stored as a simple 2D array </a:t>
                      </a:r>
                      <a:endParaRPr sz="800"/>
                    </a:p>
                  </a:txBody>
                  <a:tcPr marT="91425" marB="91425" marR="91425" marL="91425"/>
                </a:tc>
                <a:tc>
                  <a:txBody>
                    <a:bodyPr/>
                    <a:lstStyle/>
                    <a:p>
                      <a:pPr indent="0" lvl="0" marL="0" rtl="0" algn="l">
                        <a:spcBef>
                          <a:spcPts val="0"/>
                        </a:spcBef>
                        <a:spcAft>
                          <a:spcPts val="0"/>
                        </a:spcAft>
                        <a:buNone/>
                      </a:pPr>
                      <a:r>
                        <a:rPr lang="en" sz="800"/>
                        <a:t>Practical implementation of mapping with minimal hardware and low processing power (great for prototyping).</a:t>
                      </a:r>
                      <a:endParaRPr sz="800"/>
                    </a:p>
                  </a:txBody>
                  <a:tcPr marT="91425" marB="91425" marR="91425" marL="91425"/>
                </a:tc>
              </a:tr>
              <a:tr h="781550">
                <a:tc>
                  <a:txBody>
                    <a:bodyPr/>
                    <a:lstStyle/>
                    <a:p>
                      <a:pPr indent="0" lvl="0" marL="0" rtl="0" algn="l">
                        <a:spcBef>
                          <a:spcPts val="0"/>
                        </a:spcBef>
                        <a:spcAft>
                          <a:spcPts val="0"/>
                        </a:spcAft>
                        <a:buNone/>
                      </a:pPr>
                      <a:r>
                        <a:rPr b="1" lang="en" sz="800"/>
                        <a:t>Learning Occupancy Grid Maps With Forward Sensor Models</a:t>
                      </a:r>
                      <a:r>
                        <a:rPr lang="en" sz="800"/>
                        <a:t> </a:t>
                      </a:r>
                      <a:endParaRPr sz="800"/>
                    </a:p>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rPr lang="en" sz="800"/>
                        <a:t>Proposes a new algorithm that uses a statistical formulation and </a:t>
                      </a:r>
                      <a:r>
                        <a:rPr b="1" lang="en" sz="800"/>
                        <a:t>Forward Sensor Models</a:t>
                      </a:r>
                      <a:r>
                        <a:rPr lang="en" sz="800"/>
                        <a:t> to integrate measurements, leading to more accurate maps than traditional Bayesian methods that assume cell independence.8</a:t>
                      </a:r>
                      <a:endParaRPr sz="800"/>
                    </a:p>
                  </a:txBody>
                  <a:tcPr marT="91425" marB="91425" marR="91425" marL="91425"/>
                </a:tc>
                <a:tc>
                  <a:txBody>
                    <a:bodyPr/>
                    <a:lstStyle/>
                    <a:p>
                      <a:pPr indent="0" lvl="0" marL="0" rtl="0" algn="l">
                        <a:spcBef>
                          <a:spcPts val="0"/>
                        </a:spcBef>
                        <a:spcAft>
                          <a:spcPts val="0"/>
                        </a:spcAft>
                        <a:buNone/>
                      </a:pPr>
                      <a:r>
                        <a:rPr lang="en" sz="800"/>
                        <a:t>Ultrasonic Sensors (USSs), Single-beam LiDAR </a:t>
                      </a:r>
                      <a:endParaRPr sz="800"/>
                    </a:p>
                  </a:txBody>
                  <a:tcPr marT="91425" marB="91425" marR="91425" marL="91425"/>
                </a:tc>
                <a:tc>
                  <a:txBody>
                    <a:bodyPr/>
                    <a:lstStyle/>
                    <a:p>
                      <a:pPr indent="0" lvl="0" marL="0" rtl="0" algn="l">
                        <a:spcBef>
                          <a:spcPts val="0"/>
                        </a:spcBef>
                        <a:spcAft>
                          <a:spcPts val="0"/>
                        </a:spcAft>
                        <a:buNone/>
                      </a:pPr>
                      <a:r>
                        <a:rPr lang="en" sz="800"/>
                        <a:t>Bayesian Updating Rule; Log-Odds Ratio; Occupancy Grid Mapping (OGM) </a:t>
                      </a:r>
                      <a:endParaRPr sz="800"/>
                    </a:p>
                  </a:txBody>
                  <a:tcPr marT="91425" marB="91425" marR="91425" marL="91425"/>
                </a:tc>
                <a:tc>
                  <a:txBody>
                    <a:bodyPr/>
                    <a:lstStyle/>
                    <a:p>
                      <a:pPr indent="0" lvl="0" marL="0" rtl="0" algn="l">
                        <a:spcBef>
                          <a:spcPts val="0"/>
                        </a:spcBef>
                        <a:spcAft>
                          <a:spcPts val="0"/>
                        </a:spcAft>
                        <a:buNone/>
                      </a:pPr>
                      <a:r>
                        <a:rPr lang="en" sz="800"/>
                        <a:t>Foundational paper on robust probabilistic mapping techniques crucial for handling noisy, low-cost sensor data effectively.</a:t>
                      </a:r>
                      <a:endParaRPr sz="800"/>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p:nvPr/>
        </p:nvSpPr>
        <p:spPr>
          <a:xfrm>
            <a:off x="2329132" y="381270"/>
            <a:ext cx="4179600" cy="4668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lang="en">
                <a:solidFill>
                  <a:srgbClr val="D7AC54"/>
                </a:solidFill>
                <a:latin typeface="Cantarell"/>
                <a:ea typeface="Cantarell"/>
                <a:cs typeface="Cantarell"/>
                <a:sym typeface="Cantarell"/>
              </a:rPr>
              <a:t>Outcomes of </a:t>
            </a:r>
            <a:r>
              <a:rPr b="1" i="0" lang="en" sz="1400" u="none" cap="none" strike="noStrike">
                <a:solidFill>
                  <a:srgbClr val="D7AC54"/>
                </a:solidFill>
                <a:latin typeface="Cantarell"/>
                <a:ea typeface="Cantarell"/>
                <a:cs typeface="Cantarell"/>
                <a:sym typeface="Cantarell"/>
              </a:rPr>
              <a:t>Literature Survey </a:t>
            </a:r>
            <a:endParaRPr b="1" i="0" sz="1400" u="none" cap="none" strike="noStrike">
              <a:solidFill>
                <a:srgbClr val="D7AC54"/>
              </a:solidFill>
              <a:latin typeface="Cantarell"/>
              <a:ea typeface="Cantarell"/>
              <a:cs typeface="Cantarell"/>
              <a:sym typeface="Cantarell"/>
            </a:endParaRPr>
          </a:p>
        </p:txBody>
      </p:sp>
      <p:sp>
        <p:nvSpPr>
          <p:cNvPr id="105" name="Google Shape;105;p20"/>
          <p:cNvSpPr txBox="1"/>
          <p:nvPr/>
        </p:nvSpPr>
        <p:spPr>
          <a:xfrm>
            <a:off x="319525" y="955600"/>
            <a:ext cx="2500500" cy="42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rPr>
              <a:t>Gaps Identified</a:t>
            </a:r>
            <a:endParaRPr b="1" sz="2000">
              <a:solidFill>
                <a:schemeClr val="dk1"/>
              </a:solidFill>
            </a:endParaRPr>
          </a:p>
          <a:p>
            <a:pPr indent="0" lvl="0" marL="0" rtl="0" algn="l">
              <a:spcBef>
                <a:spcPts val="0"/>
              </a:spcBef>
              <a:spcAft>
                <a:spcPts val="0"/>
              </a:spcAft>
              <a:buNone/>
            </a:pPr>
            <a:r>
              <a:t/>
            </a:r>
            <a:endParaRPr b="1" sz="1800">
              <a:solidFill>
                <a:schemeClr val="dk2"/>
              </a:solidFill>
            </a:endParaRPr>
          </a:p>
        </p:txBody>
      </p:sp>
      <p:pic>
        <p:nvPicPr>
          <p:cNvPr id="106" name="Google Shape;106;p20"/>
          <p:cNvPicPr preferRelativeResize="0"/>
          <p:nvPr/>
        </p:nvPicPr>
        <p:blipFill rotWithShape="1">
          <a:blip r:embed="rId3">
            <a:alphaModFix/>
          </a:blip>
          <a:srcRect b="8923" l="0" r="0" t="10896"/>
          <a:stretch/>
        </p:blipFill>
        <p:spPr>
          <a:xfrm>
            <a:off x="138500" y="1239425"/>
            <a:ext cx="3712975" cy="3433625"/>
          </a:xfrm>
          <a:prstGeom prst="rect">
            <a:avLst/>
          </a:prstGeom>
          <a:noFill/>
          <a:ln>
            <a:noFill/>
          </a:ln>
        </p:spPr>
      </p:pic>
      <p:sp>
        <p:nvSpPr>
          <p:cNvPr id="107" name="Google Shape;107;p20"/>
          <p:cNvSpPr txBox="1"/>
          <p:nvPr/>
        </p:nvSpPr>
        <p:spPr>
          <a:xfrm>
            <a:off x="5911750" y="1030400"/>
            <a:ext cx="2500500" cy="42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rPr>
              <a:t>Outcomes</a:t>
            </a:r>
            <a:endParaRPr b="1" sz="2000">
              <a:solidFill>
                <a:schemeClr val="dk1"/>
              </a:solidFill>
            </a:endParaRPr>
          </a:p>
          <a:p>
            <a:pPr indent="0" lvl="0" marL="0" rtl="0" algn="l">
              <a:spcBef>
                <a:spcPts val="0"/>
              </a:spcBef>
              <a:spcAft>
                <a:spcPts val="0"/>
              </a:spcAft>
              <a:buNone/>
            </a:pPr>
            <a:r>
              <a:t/>
            </a:r>
            <a:endParaRPr b="1" sz="1800">
              <a:solidFill>
                <a:schemeClr val="dk2"/>
              </a:solidFill>
            </a:endParaRPr>
          </a:p>
        </p:txBody>
      </p:sp>
      <p:pic>
        <p:nvPicPr>
          <p:cNvPr id="108" name="Google Shape;108;p20"/>
          <p:cNvPicPr preferRelativeResize="0"/>
          <p:nvPr/>
        </p:nvPicPr>
        <p:blipFill rotWithShape="1">
          <a:blip r:embed="rId4">
            <a:alphaModFix/>
          </a:blip>
          <a:srcRect b="0" l="0" r="0" t="13569"/>
          <a:stretch/>
        </p:blipFill>
        <p:spPr>
          <a:xfrm>
            <a:off x="4802100" y="1492073"/>
            <a:ext cx="3892601" cy="29283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p:nvPr/>
        </p:nvSpPr>
        <p:spPr>
          <a:xfrm>
            <a:off x="2329132" y="381270"/>
            <a:ext cx="4179600" cy="4668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D7AC54"/>
                </a:solidFill>
                <a:latin typeface="Cantarell"/>
                <a:ea typeface="Cantarell"/>
                <a:cs typeface="Cantarell"/>
                <a:sym typeface="Cantarell"/>
              </a:rPr>
              <a:t>Problem Statement</a:t>
            </a:r>
            <a:endParaRPr b="1" i="0" sz="1400" u="none" cap="none" strike="noStrike">
              <a:solidFill>
                <a:srgbClr val="D7AC54"/>
              </a:solidFill>
              <a:latin typeface="Cantarell"/>
              <a:ea typeface="Cantarell"/>
              <a:cs typeface="Cantarell"/>
              <a:sym typeface="Cantarell"/>
            </a:endParaRPr>
          </a:p>
        </p:txBody>
      </p:sp>
      <p:sp>
        <p:nvSpPr>
          <p:cNvPr id="114" name="Google Shape;114;p21"/>
          <p:cNvSpPr txBox="1"/>
          <p:nvPr/>
        </p:nvSpPr>
        <p:spPr>
          <a:xfrm>
            <a:off x="273450" y="1167575"/>
            <a:ext cx="8443500" cy="2820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Conventional </a:t>
            </a:r>
            <a:r>
              <a:rPr lang="en" sz="1600">
                <a:solidFill>
                  <a:schemeClr val="dk1"/>
                </a:solidFill>
                <a:latin typeface="Times New Roman"/>
                <a:ea typeface="Times New Roman"/>
                <a:cs typeface="Times New Roman"/>
                <a:sym typeface="Times New Roman"/>
              </a:rPr>
              <a:t>mobile</a:t>
            </a:r>
            <a:r>
              <a:rPr lang="en" sz="1600">
                <a:solidFill>
                  <a:schemeClr val="dk1"/>
                </a:solidFill>
                <a:latin typeface="Times New Roman"/>
                <a:ea typeface="Times New Roman"/>
                <a:cs typeface="Times New Roman"/>
                <a:sym typeface="Times New Roman"/>
              </a:rPr>
              <a:t> robots often follow fixed patterns and depend on mobile-app controls, which limits flexibility and makes on-the-spot functional requests inconvenient. Many also lack accurate indoor mapping, leading to inefficient coverage in cluttered or changing environments.</a:t>
            </a:r>
            <a:endParaRPr sz="16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None/>
            </a:pPr>
            <a:br>
              <a:rPr lang="en" sz="1600">
                <a:solidFill>
                  <a:schemeClr val="dk1"/>
                </a:solidFill>
                <a:latin typeface="Times New Roman"/>
                <a:ea typeface="Times New Roman"/>
                <a:cs typeface="Times New Roman"/>
                <a:sym typeface="Times New Roman"/>
              </a:rPr>
            </a:br>
            <a:r>
              <a:rPr lang="en" sz="1600">
                <a:solidFill>
                  <a:schemeClr val="dk1"/>
                </a:solidFill>
                <a:latin typeface="Times New Roman"/>
                <a:ea typeface="Times New Roman"/>
                <a:cs typeface="Times New Roman"/>
                <a:sym typeface="Times New Roman"/>
              </a:rPr>
              <a:t> To address these limitations, this project develops an IoT-enabled differential-drive robot that autonomously maps and navigates indoor spaces while responding to voice commands to move to specific areas. Wireless connectivity enables real-time monitoring and control, providing a cost-effective and user-friendly alternative to existing solutions.</a:t>
            </a:r>
            <a:endParaRPr sz="2100">
              <a:solidFill>
                <a:schemeClr val="dk2"/>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p:nvPr/>
        </p:nvSpPr>
        <p:spPr>
          <a:xfrm>
            <a:off x="2291632" y="21520"/>
            <a:ext cx="4179600" cy="4668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D7AC54"/>
                </a:solidFill>
                <a:latin typeface="Cantarell"/>
                <a:ea typeface="Cantarell"/>
                <a:cs typeface="Cantarell"/>
                <a:sym typeface="Cantarell"/>
              </a:rPr>
              <a:t>Existing System and Proposed System </a:t>
            </a:r>
            <a:endParaRPr b="1" i="0" sz="1400" u="none" cap="none" strike="noStrike">
              <a:solidFill>
                <a:srgbClr val="D7AC54"/>
              </a:solidFill>
              <a:latin typeface="Cantarell"/>
              <a:ea typeface="Cantarell"/>
              <a:cs typeface="Cantarell"/>
              <a:sym typeface="Cantarell"/>
            </a:endParaRPr>
          </a:p>
        </p:txBody>
      </p:sp>
      <p:grpSp>
        <p:nvGrpSpPr>
          <p:cNvPr id="120" name="Google Shape;120;p22"/>
          <p:cNvGrpSpPr/>
          <p:nvPr/>
        </p:nvGrpSpPr>
        <p:grpSpPr>
          <a:xfrm>
            <a:off x="186175" y="-158426"/>
            <a:ext cx="8676517" cy="5301919"/>
            <a:chOff x="573567" y="112"/>
            <a:chExt cx="6980865" cy="4265765"/>
          </a:xfrm>
        </p:grpSpPr>
        <p:sp>
          <p:nvSpPr>
            <p:cNvPr id="121" name="Google Shape;121;p22"/>
            <p:cNvSpPr/>
            <p:nvPr/>
          </p:nvSpPr>
          <p:spPr>
            <a:xfrm>
              <a:off x="1446175" y="725218"/>
              <a:ext cx="5235600" cy="2815500"/>
            </a:xfrm>
            <a:prstGeom prst="round2DiagRect">
              <a:avLst>
                <a:gd fmla="val 0" name="adj1"/>
                <a:gd fmla="val 16670" name="adj2"/>
              </a:avLst>
            </a:prstGeom>
            <a:gradFill>
              <a:gsLst>
                <a:gs pos="0">
                  <a:srgbClr val="556B27"/>
                </a:gs>
                <a:gs pos="80000">
                  <a:srgbClr val="708D32"/>
                </a:gs>
                <a:gs pos="100000">
                  <a:srgbClr val="719031"/>
                </a:gs>
              </a:gsLst>
              <a:lin ang="16200038" scaled="0"/>
            </a:gradFill>
            <a:ln>
              <a:noFill/>
            </a:ln>
            <a:effectLst>
              <a:outerShdw blurRad="49714" rotWithShape="0" dir="5400000" dist="28585">
                <a:srgbClr val="000000">
                  <a:alpha val="33330"/>
                </a:srgbClr>
              </a:outerShdw>
            </a:effectLst>
          </p:spPr>
          <p:txBody>
            <a:bodyPr anchorCtr="0" anchor="ctr" bIns="113650" lIns="113650" spcFirstLastPara="1" rIns="113650" wrap="square" tIns="113650">
              <a:noAutofit/>
            </a:bodyPr>
            <a:lstStyle/>
            <a:p>
              <a:pPr indent="0" lvl="0" marL="0" marR="0" rtl="0" algn="l">
                <a:lnSpc>
                  <a:spcPct val="100000"/>
                </a:lnSpc>
                <a:spcBef>
                  <a:spcPts val="0"/>
                </a:spcBef>
                <a:spcAft>
                  <a:spcPts val="0"/>
                </a:spcAft>
                <a:buClr>
                  <a:srgbClr val="000000"/>
                </a:buClr>
                <a:buSzPts val="1740"/>
                <a:buFont typeface="Arial"/>
                <a:buNone/>
              </a:pPr>
              <a:r>
                <a:t/>
              </a:r>
              <a:endParaRPr b="0" i="0" sz="1739" u="none" cap="none" strike="noStrike">
                <a:solidFill>
                  <a:srgbClr val="000000"/>
                </a:solidFill>
                <a:latin typeface="Arial"/>
                <a:ea typeface="Arial"/>
                <a:cs typeface="Arial"/>
                <a:sym typeface="Arial"/>
              </a:endParaRPr>
            </a:p>
          </p:txBody>
        </p:sp>
        <p:cxnSp>
          <p:nvCxnSpPr>
            <p:cNvPr id="122" name="Google Shape;122;p22"/>
            <p:cNvCxnSpPr/>
            <p:nvPr/>
          </p:nvCxnSpPr>
          <p:spPr>
            <a:xfrm>
              <a:off x="4063999" y="1023837"/>
              <a:ext cx="600" cy="2218200"/>
            </a:xfrm>
            <a:prstGeom prst="straightConnector1">
              <a:avLst/>
            </a:prstGeom>
            <a:solidFill>
              <a:srgbClr val="9BBB59"/>
            </a:solidFill>
            <a:ln cap="flat" cmpd="sng" w="31550">
              <a:solidFill>
                <a:srgbClr val="9BBB59"/>
              </a:solidFill>
              <a:prstDash val="solid"/>
              <a:round/>
              <a:headEnd len="sm" w="sm" type="none"/>
              <a:tailEnd len="sm" w="sm" type="none"/>
            </a:ln>
            <a:effectLst>
              <a:outerShdw blurRad="49714" rotWithShape="0" dir="5400000" dist="24857">
                <a:srgbClr val="000000">
                  <a:alpha val="36080"/>
                </a:srgbClr>
              </a:outerShdw>
            </a:effectLst>
          </p:spPr>
        </p:cxnSp>
        <p:sp>
          <p:nvSpPr>
            <p:cNvPr id="123" name="Google Shape;123;p22"/>
            <p:cNvSpPr/>
            <p:nvPr/>
          </p:nvSpPr>
          <p:spPr>
            <a:xfrm>
              <a:off x="1620696" y="938517"/>
              <a:ext cx="2268900" cy="2388900"/>
            </a:xfrm>
            <a:prstGeom prst="rect">
              <a:avLst/>
            </a:prstGeom>
            <a:noFill/>
            <a:ln>
              <a:noFill/>
            </a:ln>
          </p:spPr>
          <p:txBody>
            <a:bodyPr anchorCtr="0" anchor="ctr" bIns="113650" lIns="113650" spcFirstLastPara="1" rIns="113650" wrap="square" tIns="113650">
              <a:noAutofit/>
            </a:bodyPr>
            <a:lstStyle/>
            <a:p>
              <a:pPr indent="0" lvl="0" marL="0" marR="0" rtl="0" algn="l">
                <a:lnSpc>
                  <a:spcPct val="100000"/>
                </a:lnSpc>
                <a:spcBef>
                  <a:spcPts val="0"/>
                </a:spcBef>
                <a:spcAft>
                  <a:spcPts val="0"/>
                </a:spcAft>
                <a:buClr>
                  <a:srgbClr val="000000"/>
                </a:buClr>
                <a:buSzPts val="1740"/>
                <a:buFont typeface="Arial"/>
                <a:buNone/>
              </a:pPr>
              <a:r>
                <a:t/>
              </a:r>
              <a:endParaRPr b="0" i="0" sz="1739" u="none" cap="none" strike="noStrike">
                <a:solidFill>
                  <a:srgbClr val="000000"/>
                </a:solidFill>
                <a:latin typeface="Arial"/>
                <a:ea typeface="Arial"/>
                <a:cs typeface="Arial"/>
                <a:sym typeface="Arial"/>
              </a:endParaRPr>
            </a:p>
          </p:txBody>
        </p:sp>
        <p:sp>
          <p:nvSpPr>
            <p:cNvPr id="124" name="Google Shape;124;p22"/>
            <p:cNvSpPr txBox="1"/>
            <p:nvPr/>
          </p:nvSpPr>
          <p:spPr>
            <a:xfrm>
              <a:off x="1620695" y="938523"/>
              <a:ext cx="2268900" cy="2551800"/>
            </a:xfrm>
            <a:prstGeom prst="rect">
              <a:avLst/>
            </a:prstGeom>
            <a:noFill/>
            <a:ln>
              <a:noFill/>
            </a:ln>
          </p:spPr>
          <p:txBody>
            <a:bodyPr anchorCtr="0" anchor="t" bIns="113650" lIns="113650" spcFirstLastPara="1" rIns="113650" wrap="square" tIns="113650">
              <a:noAutofit/>
            </a:bodyPr>
            <a:lstStyle/>
            <a:p>
              <a:pPr indent="0" lvl="0" marL="0" rtl="0" algn="l">
                <a:lnSpc>
                  <a:spcPct val="90000"/>
                </a:lnSpc>
                <a:spcBef>
                  <a:spcPts val="0"/>
                </a:spcBef>
                <a:spcAft>
                  <a:spcPts val="0"/>
                </a:spcAft>
                <a:buClr>
                  <a:schemeClr val="dk1"/>
                </a:buClr>
                <a:buSzPts val="1100"/>
                <a:buFont typeface="Arial"/>
                <a:buNone/>
              </a:pPr>
              <a:r>
                <a:rPr lang="en" sz="1147">
                  <a:solidFill>
                    <a:srgbClr val="FFFFFF"/>
                  </a:solidFill>
                  <a:latin typeface="Calibri"/>
                  <a:ea typeface="Calibri"/>
                  <a:cs typeface="Calibri"/>
                  <a:sym typeface="Calibri"/>
                </a:rPr>
                <a:t>Most locomotion robots (e.g., basic Roombas) use predefined patterns or simple obstacle avoidance.</a:t>
              </a:r>
              <a:endParaRPr sz="1147">
                <a:solidFill>
                  <a:srgbClr val="FFFFFF"/>
                </a:solidFill>
                <a:latin typeface="Calibri"/>
                <a:ea typeface="Calibri"/>
                <a:cs typeface="Calibri"/>
                <a:sym typeface="Calibri"/>
              </a:endParaRPr>
            </a:p>
            <a:p>
              <a:pPr indent="0" lvl="0" marL="0" rtl="0" algn="l">
                <a:lnSpc>
                  <a:spcPct val="90000"/>
                </a:lnSpc>
                <a:spcBef>
                  <a:spcPts val="1044"/>
                </a:spcBef>
                <a:spcAft>
                  <a:spcPts val="0"/>
                </a:spcAft>
                <a:buClr>
                  <a:schemeClr val="dk1"/>
                </a:buClr>
                <a:buSzPts val="1100"/>
                <a:buFont typeface="Arial"/>
                <a:buNone/>
              </a:pPr>
              <a:r>
                <a:rPr lang="en" sz="1147">
                  <a:solidFill>
                    <a:srgbClr val="FFFFFF"/>
                  </a:solidFill>
                  <a:latin typeface="Calibri"/>
                  <a:ea typeface="Calibri"/>
                  <a:cs typeface="Calibri"/>
                  <a:sym typeface="Calibri"/>
                </a:rPr>
                <a:t>Limited mapping capability; they often cannot divide rooms into zones.</a:t>
              </a:r>
              <a:endParaRPr sz="1147">
                <a:solidFill>
                  <a:srgbClr val="FFFFFF"/>
                </a:solidFill>
                <a:latin typeface="Calibri"/>
                <a:ea typeface="Calibri"/>
                <a:cs typeface="Calibri"/>
                <a:sym typeface="Calibri"/>
              </a:endParaRPr>
            </a:p>
            <a:p>
              <a:pPr indent="0" lvl="0" marL="0" marR="0" rtl="0" algn="l">
                <a:lnSpc>
                  <a:spcPct val="90000"/>
                </a:lnSpc>
                <a:spcBef>
                  <a:spcPts val="1044"/>
                </a:spcBef>
                <a:spcAft>
                  <a:spcPts val="0"/>
                </a:spcAft>
                <a:buClr>
                  <a:srgbClr val="000000"/>
                </a:buClr>
                <a:buSzPts val="2983"/>
                <a:buFont typeface="Arial"/>
                <a:buNone/>
              </a:pPr>
              <a:r>
                <a:rPr lang="en" sz="1147">
                  <a:solidFill>
                    <a:srgbClr val="FFFFFF"/>
                  </a:solidFill>
                  <a:latin typeface="Calibri"/>
                  <a:ea typeface="Calibri"/>
                  <a:cs typeface="Calibri"/>
                  <a:sym typeface="Calibri"/>
                </a:rPr>
                <a:t>No voice interaction—control is via buttons or smartphone apps only.</a:t>
              </a:r>
              <a:endParaRPr b="0" i="0" sz="100" u="none" cap="none" strike="noStrike">
                <a:solidFill>
                  <a:srgbClr val="000000"/>
                </a:solidFill>
                <a:latin typeface="Arial"/>
                <a:ea typeface="Arial"/>
                <a:cs typeface="Arial"/>
                <a:sym typeface="Arial"/>
              </a:endParaRPr>
            </a:p>
            <a:p>
              <a:pPr indent="0" lvl="0" marL="0" rtl="0" algn="l">
                <a:lnSpc>
                  <a:spcPct val="90000"/>
                </a:lnSpc>
                <a:spcBef>
                  <a:spcPts val="1044"/>
                </a:spcBef>
                <a:spcAft>
                  <a:spcPts val="0"/>
                </a:spcAft>
                <a:buClr>
                  <a:schemeClr val="dk1"/>
                </a:buClr>
                <a:buSzPts val="1100"/>
                <a:buFont typeface="Arial"/>
                <a:buNone/>
              </a:pPr>
              <a:r>
                <a:rPr lang="en" sz="1147">
                  <a:solidFill>
                    <a:schemeClr val="lt1"/>
                  </a:solidFill>
                  <a:latin typeface="Calibri"/>
                  <a:ea typeface="Calibri"/>
                  <a:cs typeface="Calibri"/>
                  <a:sym typeface="Calibri"/>
                </a:rPr>
                <a:t>Sensor fusion is basic; most rely only on IR or ultrasonic sensors for collision detection.</a:t>
              </a:r>
              <a:endParaRPr sz="1147">
                <a:solidFill>
                  <a:schemeClr val="lt1"/>
                </a:solidFill>
                <a:latin typeface="Calibri"/>
                <a:ea typeface="Calibri"/>
                <a:cs typeface="Calibri"/>
                <a:sym typeface="Calibri"/>
              </a:endParaRPr>
            </a:p>
            <a:p>
              <a:pPr indent="0" lvl="0" marL="0" rtl="0" algn="l">
                <a:lnSpc>
                  <a:spcPct val="90000"/>
                </a:lnSpc>
                <a:spcBef>
                  <a:spcPts val="1044"/>
                </a:spcBef>
                <a:spcAft>
                  <a:spcPts val="0"/>
                </a:spcAft>
                <a:buClr>
                  <a:schemeClr val="dk1"/>
                </a:buClr>
                <a:buSzPts val="1100"/>
                <a:buFont typeface="Arial"/>
                <a:buNone/>
              </a:pPr>
              <a:r>
                <a:rPr lang="en" sz="1147">
                  <a:solidFill>
                    <a:schemeClr val="lt1"/>
                  </a:solidFill>
                  <a:latin typeface="Calibri"/>
                  <a:ea typeface="Calibri"/>
                  <a:cs typeface="Calibri"/>
                  <a:sym typeface="Calibri"/>
                </a:rPr>
                <a:t>Navigation is reactive, not intelligent; robots may miss areas or repeat the same path unnecessarily.</a:t>
              </a:r>
              <a:endParaRPr sz="1147">
                <a:solidFill>
                  <a:schemeClr val="lt1"/>
                </a:solidFill>
                <a:latin typeface="Calibri"/>
                <a:ea typeface="Calibri"/>
                <a:cs typeface="Calibri"/>
                <a:sym typeface="Calibri"/>
              </a:endParaRPr>
            </a:p>
            <a:p>
              <a:pPr indent="0" lvl="0" marL="0" rtl="0" algn="l">
                <a:lnSpc>
                  <a:spcPct val="90000"/>
                </a:lnSpc>
                <a:spcBef>
                  <a:spcPts val="1044"/>
                </a:spcBef>
                <a:spcAft>
                  <a:spcPts val="0"/>
                </a:spcAft>
                <a:buClr>
                  <a:schemeClr val="dk1"/>
                </a:buClr>
                <a:buSzPts val="1100"/>
                <a:buFont typeface="Arial"/>
                <a:buNone/>
              </a:pPr>
              <a:r>
                <a:t/>
              </a:r>
              <a:endParaRPr sz="1147">
                <a:solidFill>
                  <a:schemeClr val="dk1"/>
                </a:solidFill>
                <a:latin typeface="Calibri"/>
                <a:ea typeface="Calibri"/>
                <a:cs typeface="Calibri"/>
                <a:sym typeface="Calibri"/>
              </a:endParaRPr>
            </a:p>
            <a:p>
              <a:pPr indent="0" lvl="0" marL="0" marR="0" rtl="0" algn="l">
                <a:lnSpc>
                  <a:spcPct val="90000"/>
                </a:lnSpc>
                <a:spcBef>
                  <a:spcPts val="1044"/>
                </a:spcBef>
                <a:spcAft>
                  <a:spcPts val="0"/>
                </a:spcAft>
                <a:buClr>
                  <a:srgbClr val="000000"/>
                </a:buClr>
                <a:buSzPts val="2983"/>
                <a:buFont typeface="Arial"/>
                <a:buNone/>
              </a:pPr>
              <a:r>
                <a:t/>
              </a:r>
              <a:endParaRPr sz="1147">
                <a:solidFill>
                  <a:schemeClr val="dk1"/>
                </a:solidFill>
                <a:latin typeface="Calibri"/>
                <a:ea typeface="Calibri"/>
                <a:cs typeface="Calibri"/>
                <a:sym typeface="Calibri"/>
              </a:endParaRPr>
            </a:p>
          </p:txBody>
        </p:sp>
        <p:sp>
          <p:nvSpPr>
            <p:cNvPr id="125" name="Google Shape;125;p22"/>
            <p:cNvSpPr/>
            <p:nvPr/>
          </p:nvSpPr>
          <p:spPr>
            <a:xfrm>
              <a:off x="4238521" y="938517"/>
              <a:ext cx="2268900" cy="2388900"/>
            </a:xfrm>
            <a:prstGeom prst="rect">
              <a:avLst/>
            </a:prstGeom>
            <a:noFill/>
            <a:ln>
              <a:noFill/>
            </a:ln>
          </p:spPr>
          <p:txBody>
            <a:bodyPr anchorCtr="0" anchor="ctr" bIns="113650" lIns="113650" spcFirstLastPara="1" rIns="113650" wrap="square" tIns="113650">
              <a:noAutofit/>
            </a:bodyPr>
            <a:lstStyle/>
            <a:p>
              <a:pPr indent="0" lvl="0" marL="0" marR="0" rtl="0" algn="l">
                <a:lnSpc>
                  <a:spcPct val="100000"/>
                </a:lnSpc>
                <a:spcBef>
                  <a:spcPts val="0"/>
                </a:spcBef>
                <a:spcAft>
                  <a:spcPts val="0"/>
                </a:spcAft>
                <a:buClr>
                  <a:srgbClr val="000000"/>
                </a:buClr>
                <a:buSzPts val="1740"/>
                <a:buFont typeface="Arial"/>
                <a:buNone/>
              </a:pPr>
              <a:r>
                <a:t/>
              </a:r>
              <a:endParaRPr b="0" i="0" sz="1739" u="none" cap="none" strike="noStrike">
                <a:solidFill>
                  <a:srgbClr val="000000"/>
                </a:solidFill>
                <a:latin typeface="Arial"/>
                <a:ea typeface="Arial"/>
                <a:cs typeface="Arial"/>
                <a:sym typeface="Arial"/>
              </a:endParaRPr>
            </a:p>
          </p:txBody>
        </p:sp>
        <p:sp>
          <p:nvSpPr>
            <p:cNvPr id="126" name="Google Shape;126;p22"/>
            <p:cNvSpPr txBox="1"/>
            <p:nvPr/>
          </p:nvSpPr>
          <p:spPr>
            <a:xfrm>
              <a:off x="4238521" y="938517"/>
              <a:ext cx="2268900" cy="2388900"/>
            </a:xfrm>
            <a:prstGeom prst="rect">
              <a:avLst/>
            </a:prstGeom>
            <a:noFill/>
            <a:ln>
              <a:noFill/>
            </a:ln>
          </p:spPr>
          <p:txBody>
            <a:bodyPr anchorCtr="0" anchor="t" bIns="113650" lIns="113650" spcFirstLastPara="1" rIns="113650" wrap="square" tIns="113650">
              <a:noAutofit/>
            </a:bodyPr>
            <a:lstStyle/>
            <a:p>
              <a:pPr indent="0" lvl="0" marL="0" rtl="0" algn="l">
                <a:lnSpc>
                  <a:spcPct val="90000"/>
                </a:lnSpc>
                <a:spcBef>
                  <a:spcPts val="0"/>
                </a:spcBef>
                <a:spcAft>
                  <a:spcPts val="0"/>
                </a:spcAft>
                <a:buClr>
                  <a:schemeClr val="dk1"/>
                </a:buClr>
                <a:buSzPts val="1100"/>
                <a:buFont typeface="Arial"/>
                <a:buNone/>
              </a:pPr>
              <a:r>
                <a:rPr lang="en" sz="1082">
                  <a:solidFill>
                    <a:srgbClr val="FFFFFF"/>
                  </a:solidFill>
                  <a:latin typeface="Calibri"/>
                  <a:ea typeface="Calibri"/>
                  <a:cs typeface="Calibri"/>
                  <a:sym typeface="Calibri"/>
                </a:rPr>
                <a:t>Autonomous room mapping using a combination of camera, IMU, IR, and ultrasonic sensors.</a:t>
              </a:r>
              <a:endParaRPr sz="1082">
                <a:solidFill>
                  <a:srgbClr val="FFFFFF"/>
                </a:solidFill>
                <a:latin typeface="Calibri"/>
                <a:ea typeface="Calibri"/>
                <a:cs typeface="Calibri"/>
                <a:sym typeface="Calibri"/>
              </a:endParaRPr>
            </a:p>
            <a:p>
              <a:pPr indent="0" lvl="0" marL="0" rtl="0" algn="l">
                <a:lnSpc>
                  <a:spcPct val="90000"/>
                </a:lnSpc>
                <a:spcBef>
                  <a:spcPts val="1044"/>
                </a:spcBef>
                <a:spcAft>
                  <a:spcPts val="0"/>
                </a:spcAft>
                <a:buClr>
                  <a:schemeClr val="dk1"/>
                </a:buClr>
                <a:buSzPts val="1100"/>
                <a:buFont typeface="Arial"/>
                <a:buNone/>
              </a:pPr>
              <a:r>
                <a:rPr lang="en" sz="1082">
                  <a:solidFill>
                    <a:srgbClr val="FFFFFF"/>
                  </a:solidFill>
                  <a:latin typeface="Calibri"/>
                  <a:ea typeface="Calibri"/>
                  <a:cs typeface="Calibri"/>
                  <a:sym typeface="Calibri"/>
                </a:rPr>
                <a:t>Zone-based cleaning: Users can divide the room into sections via an app for targeted cleaning.</a:t>
              </a:r>
              <a:endParaRPr sz="1082">
                <a:solidFill>
                  <a:srgbClr val="FFFFFF"/>
                </a:solidFill>
                <a:latin typeface="Calibri"/>
                <a:ea typeface="Calibri"/>
                <a:cs typeface="Calibri"/>
                <a:sym typeface="Calibri"/>
              </a:endParaRPr>
            </a:p>
            <a:p>
              <a:pPr indent="0" lvl="0" marL="0" rtl="0" algn="l">
                <a:lnSpc>
                  <a:spcPct val="90000"/>
                </a:lnSpc>
                <a:spcBef>
                  <a:spcPts val="1044"/>
                </a:spcBef>
                <a:spcAft>
                  <a:spcPts val="0"/>
                </a:spcAft>
                <a:buClr>
                  <a:schemeClr val="dk1"/>
                </a:buClr>
                <a:buSzPts val="1100"/>
                <a:buFont typeface="Arial"/>
                <a:buNone/>
              </a:pPr>
              <a:r>
                <a:rPr lang="en" sz="1082">
                  <a:solidFill>
                    <a:srgbClr val="FFFFFF"/>
                  </a:solidFill>
                  <a:latin typeface="Calibri"/>
                  <a:ea typeface="Calibri"/>
                  <a:cs typeface="Calibri"/>
                  <a:sym typeface="Calibri"/>
                </a:rPr>
                <a:t>Voice recognition allows simple commands like “go to kitchen” or “switch to turbo mode.”</a:t>
              </a:r>
              <a:endParaRPr sz="1082">
                <a:solidFill>
                  <a:srgbClr val="FFFFFF"/>
                </a:solidFill>
                <a:latin typeface="Calibri"/>
                <a:ea typeface="Calibri"/>
                <a:cs typeface="Calibri"/>
                <a:sym typeface="Calibri"/>
              </a:endParaRPr>
            </a:p>
            <a:p>
              <a:pPr indent="0" lvl="0" marL="0" rtl="0" algn="l">
                <a:lnSpc>
                  <a:spcPct val="90000"/>
                </a:lnSpc>
                <a:spcBef>
                  <a:spcPts val="1044"/>
                </a:spcBef>
                <a:spcAft>
                  <a:spcPts val="0"/>
                </a:spcAft>
                <a:buClr>
                  <a:schemeClr val="dk1"/>
                </a:buClr>
                <a:buSzPts val="1100"/>
                <a:buFont typeface="Arial"/>
                <a:buNone/>
              </a:pPr>
              <a:r>
                <a:rPr lang="en" sz="1082">
                  <a:solidFill>
                    <a:srgbClr val="FFFFFF"/>
                  </a:solidFill>
                  <a:latin typeface="Calibri"/>
                  <a:ea typeface="Calibri"/>
                  <a:cs typeface="Calibri"/>
                  <a:sym typeface="Calibri"/>
                </a:rPr>
                <a:t>ROS-based control with SLAM (RTAB-Map/GMapping) enables intelligent navigation and obstacle avoidance.</a:t>
              </a:r>
              <a:endParaRPr sz="1082">
                <a:solidFill>
                  <a:srgbClr val="FFFFFF"/>
                </a:solidFill>
                <a:latin typeface="Calibri"/>
                <a:ea typeface="Calibri"/>
                <a:cs typeface="Calibri"/>
                <a:sym typeface="Calibri"/>
              </a:endParaRPr>
            </a:p>
            <a:p>
              <a:pPr indent="0" lvl="0" marL="0" rtl="0" algn="l">
                <a:lnSpc>
                  <a:spcPct val="90000"/>
                </a:lnSpc>
                <a:spcBef>
                  <a:spcPts val="1044"/>
                </a:spcBef>
                <a:spcAft>
                  <a:spcPts val="0"/>
                </a:spcAft>
                <a:buClr>
                  <a:schemeClr val="dk1"/>
                </a:buClr>
                <a:buSzPts val="1100"/>
                <a:buFont typeface="Arial"/>
                <a:buNone/>
              </a:pPr>
              <a:r>
                <a:rPr lang="en" sz="1082">
                  <a:solidFill>
                    <a:srgbClr val="FFFFFF"/>
                  </a:solidFill>
                  <a:latin typeface="Calibri"/>
                  <a:ea typeface="Calibri"/>
                  <a:cs typeface="Calibri"/>
                  <a:sym typeface="Calibri"/>
                </a:rPr>
                <a:t>Sensor fusion ensures more accurate mapping and localization compared to traditional systems</a:t>
              </a:r>
              <a:endParaRPr sz="1082">
                <a:solidFill>
                  <a:srgbClr val="FFFFFF"/>
                </a:solidFill>
                <a:latin typeface="Calibri"/>
                <a:ea typeface="Calibri"/>
                <a:cs typeface="Calibri"/>
                <a:sym typeface="Calibri"/>
              </a:endParaRPr>
            </a:p>
            <a:p>
              <a:pPr indent="0" lvl="0" marL="0" marR="0" rtl="0" algn="l">
                <a:lnSpc>
                  <a:spcPct val="90000"/>
                </a:lnSpc>
                <a:spcBef>
                  <a:spcPts val="1044"/>
                </a:spcBef>
                <a:spcAft>
                  <a:spcPts val="0"/>
                </a:spcAft>
                <a:buClr>
                  <a:srgbClr val="000000"/>
                </a:buClr>
                <a:buSzPts val="2983"/>
                <a:buFont typeface="Arial"/>
                <a:buNone/>
              </a:pPr>
              <a:r>
                <a:t/>
              </a:r>
              <a:endParaRPr sz="1082">
                <a:solidFill>
                  <a:srgbClr val="FFFFFF"/>
                </a:solidFill>
                <a:latin typeface="Calibri"/>
                <a:ea typeface="Calibri"/>
                <a:cs typeface="Calibri"/>
                <a:sym typeface="Calibri"/>
              </a:endParaRPr>
            </a:p>
          </p:txBody>
        </p:sp>
        <p:sp>
          <p:nvSpPr>
            <p:cNvPr id="127" name="Google Shape;127;p22"/>
            <p:cNvSpPr/>
            <p:nvPr/>
          </p:nvSpPr>
          <p:spPr>
            <a:xfrm rot="-5400000">
              <a:off x="-525783" y="1099462"/>
              <a:ext cx="3071400" cy="872700"/>
            </a:xfrm>
            <a:prstGeom prst="rightArrow">
              <a:avLst>
                <a:gd fmla="val 49830" name="adj1"/>
                <a:gd fmla="val 60660" name="adj2"/>
              </a:avLst>
            </a:prstGeom>
            <a:solidFill>
              <a:srgbClr val="D4DFC1"/>
            </a:solidFill>
            <a:ln>
              <a:noFill/>
            </a:ln>
            <a:effectLst>
              <a:outerShdw blurRad="49714" rotWithShape="0" dir="5400000" dist="28585">
                <a:srgbClr val="000000">
                  <a:alpha val="33330"/>
                </a:srgbClr>
              </a:outerShdw>
            </a:effectLst>
          </p:spPr>
          <p:txBody>
            <a:bodyPr anchorCtr="0" anchor="ctr" bIns="113650" lIns="113650" spcFirstLastPara="1" rIns="113650" wrap="square" tIns="113650">
              <a:noAutofit/>
            </a:bodyPr>
            <a:lstStyle/>
            <a:p>
              <a:pPr indent="0" lvl="0" marL="0" marR="0" rtl="0" algn="l">
                <a:lnSpc>
                  <a:spcPct val="100000"/>
                </a:lnSpc>
                <a:spcBef>
                  <a:spcPts val="0"/>
                </a:spcBef>
                <a:spcAft>
                  <a:spcPts val="0"/>
                </a:spcAft>
                <a:buClr>
                  <a:srgbClr val="000000"/>
                </a:buClr>
                <a:buSzPts val="1740"/>
                <a:buFont typeface="Arial"/>
                <a:buNone/>
              </a:pPr>
              <a:r>
                <a:t/>
              </a:r>
              <a:endParaRPr b="0" i="0" sz="1739" u="none" cap="none" strike="noStrike">
                <a:solidFill>
                  <a:srgbClr val="000000"/>
                </a:solidFill>
                <a:latin typeface="Arial"/>
                <a:ea typeface="Arial"/>
                <a:cs typeface="Arial"/>
                <a:sym typeface="Arial"/>
              </a:endParaRPr>
            </a:p>
          </p:txBody>
        </p:sp>
        <p:sp>
          <p:nvSpPr>
            <p:cNvPr id="128" name="Google Shape;128;p22"/>
            <p:cNvSpPr txBox="1"/>
            <p:nvPr/>
          </p:nvSpPr>
          <p:spPr>
            <a:xfrm rot="-5400000">
              <a:off x="-394039" y="1450312"/>
              <a:ext cx="2807700" cy="434700"/>
            </a:xfrm>
            <a:prstGeom prst="rect">
              <a:avLst/>
            </a:prstGeom>
            <a:noFill/>
            <a:ln>
              <a:noFill/>
            </a:ln>
          </p:spPr>
          <p:txBody>
            <a:bodyPr anchorCtr="0" anchor="ctr" bIns="94725" lIns="94725" spcFirstLastPara="1" rIns="94725" wrap="square" tIns="94725">
              <a:noAutofit/>
            </a:bodyPr>
            <a:lstStyle/>
            <a:p>
              <a:pPr indent="0" lvl="0" marL="0" marR="0" rtl="0" algn="r">
                <a:lnSpc>
                  <a:spcPct val="90000"/>
                </a:lnSpc>
                <a:spcBef>
                  <a:spcPts val="0"/>
                </a:spcBef>
                <a:spcAft>
                  <a:spcPts val="0"/>
                </a:spcAft>
                <a:buClr>
                  <a:srgbClr val="000000"/>
                </a:buClr>
                <a:buSzPts val="2486"/>
                <a:buFont typeface="Arial"/>
                <a:buNone/>
              </a:pPr>
              <a:r>
                <a:rPr lang="en" sz="2485">
                  <a:solidFill>
                    <a:srgbClr val="95A5A6"/>
                  </a:solidFill>
                  <a:latin typeface="Calibri"/>
                  <a:ea typeface="Calibri"/>
                  <a:cs typeface="Calibri"/>
                  <a:sym typeface="Calibri"/>
                </a:rPr>
                <a:t>Existing</a:t>
              </a:r>
              <a:r>
                <a:rPr lang="en" sz="2485">
                  <a:solidFill>
                    <a:srgbClr val="95A5A6"/>
                  </a:solidFill>
                  <a:latin typeface="Calibri"/>
                  <a:ea typeface="Calibri"/>
                  <a:cs typeface="Calibri"/>
                  <a:sym typeface="Calibri"/>
                </a:rPr>
                <a:t> Systems</a:t>
              </a:r>
              <a:endParaRPr b="0" i="0" sz="1739" u="none" cap="none" strike="noStrike">
                <a:solidFill>
                  <a:srgbClr val="000000"/>
                </a:solidFill>
                <a:latin typeface="Arial"/>
                <a:ea typeface="Arial"/>
                <a:cs typeface="Arial"/>
                <a:sym typeface="Arial"/>
              </a:endParaRPr>
            </a:p>
          </p:txBody>
        </p:sp>
        <p:sp>
          <p:nvSpPr>
            <p:cNvPr id="129" name="Google Shape;129;p22"/>
            <p:cNvSpPr/>
            <p:nvPr/>
          </p:nvSpPr>
          <p:spPr>
            <a:xfrm rot="5400000">
              <a:off x="5582382" y="2293827"/>
              <a:ext cx="3071400" cy="872700"/>
            </a:xfrm>
            <a:prstGeom prst="rightArrow">
              <a:avLst>
                <a:gd fmla="val 49830" name="adj1"/>
                <a:gd fmla="val 60660" name="adj2"/>
              </a:avLst>
            </a:prstGeom>
            <a:solidFill>
              <a:srgbClr val="CFDBB9"/>
            </a:solidFill>
            <a:ln>
              <a:noFill/>
            </a:ln>
            <a:effectLst>
              <a:outerShdw blurRad="49714" rotWithShape="0" dir="5400000" dist="28585">
                <a:srgbClr val="000000">
                  <a:alpha val="33330"/>
                </a:srgbClr>
              </a:outerShdw>
            </a:effectLst>
          </p:spPr>
          <p:txBody>
            <a:bodyPr anchorCtr="0" anchor="ctr" bIns="113650" lIns="113650" spcFirstLastPara="1" rIns="113650" wrap="square" tIns="113650">
              <a:noAutofit/>
            </a:bodyPr>
            <a:lstStyle/>
            <a:p>
              <a:pPr indent="0" lvl="0" marL="0" marR="0" rtl="0" algn="l">
                <a:lnSpc>
                  <a:spcPct val="100000"/>
                </a:lnSpc>
                <a:spcBef>
                  <a:spcPts val="0"/>
                </a:spcBef>
                <a:spcAft>
                  <a:spcPts val="0"/>
                </a:spcAft>
                <a:buClr>
                  <a:srgbClr val="000000"/>
                </a:buClr>
                <a:buSzPts val="1740"/>
                <a:buFont typeface="Arial"/>
                <a:buNone/>
              </a:pPr>
              <a:r>
                <a:t/>
              </a:r>
              <a:endParaRPr b="0" i="0" sz="1739" u="none" cap="none" strike="noStrike">
                <a:solidFill>
                  <a:srgbClr val="000000"/>
                </a:solidFill>
                <a:latin typeface="Arial"/>
                <a:ea typeface="Arial"/>
                <a:cs typeface="Arial"/>
                <a:sym typeface="Arial"/>
              </a:endParaRPr>
            </a:p>
          </p:txBody>
        </p:sp>
        <p:sp>
          <p:nvSpPr>
            <p:cNvPr id="130" name="Google Shape;130;p22"/>
            <p:cNvSpPr txBox="1"/>
            <p:nvPr/>
          </p:nvSpPr>
          <p:spPr>
            <a:xfrm rot="5400000">
              <a:off x="5714338" y="2380977"/>
              <a:ext cx="2807700" cy="434700"/>
            </a:xfrm>
            <a:prstGeom prst="rect">
              <a:avLst/>
            </a:prstGeom>
            <a:noFill/>
            <a:ln>
              <a:noFill/>
            </a:ln>
          </p:spPr>
          <p:txBody>
            <a:bodyPr anchorCtr="0" anchor="ctr" bIns="94725" lIns="94725" spcFirstLastPara="1" rIns="94725" wrap="square" tIns="94725">
              <a:noAutofit/>
            </a:bodyPr>
            <a:lstStyle/>
            <a:p>
              <a:pPr indent="0" lvl="0" marL="0" marR="0" rtl="0" algn="r">
                <a:lnSpc>
                  <a:spcPct val="90000"/>
                </a:lnSpc>
                <a:spcBef>
                  <a:spcPts val="0"/>
                </a:spcBef>
                <a:spcAft>
                  <a:spcPts val="0"/>
                </a:spcAft>
                <a:buClr>
                  <a:srgbClr val="000000"/>
                </a:buClr>
                <a:buSzPts val="2486"/>
                <a:buFont typeface="Arial"/>
                <a:buNone/>
              </a:pPr>
              <a:r>
                <a:rPr lang="en" sz="2485">
                  <a:solidFill>
                    <a:srgbClr val="95A5A6"/>
                  </a:solidFill>
                  <a:latin typeface="Calibri"/>
                  <a:ea typeface="Calibri"/>
                  <a:cs typeface="Calibri"/>
                  <a:sym typeface="Calibri"/>
                </a:rPr>
                <a:t>Proposed System</a:t>
              </a:r>
              <a:endParaRPr b="0" i="0" sz="1739" u="none" cap="none" strike="noStrike">
                <a:solidFill>
                  <a:srgbClr val="000000"/>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nvSpPr>
        <p:spPr>
          <a:xfrm>
            <a:off x="739150" y="2240850"/>
            <a:ext cx="7347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FF0000"/>
              </a:solidFill>
              <a:latin typeface="Arial"/>
              <a:ea typeface="Arial"/>
              <a:cs typeface="Arial"/>
              <a:sym typeface="Arial"/>
            </a:endParaRPr>
          </a:p>
        </p:txBody>
      </p:sp>
      <p:sp>
        <p:nvSpPr>
          <p:cNvPr id="136" name="Google Shape;136;p23"/>
          <p:cNvSpPr/>
          <p:nvPr/>
        </p:nvSpPr>
        <p:spPr>
          <a:xfrm>
            <a:off x="2329132" y="381270"/>
            <a:ext cx="4179600" cy="4668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D7AC54"/>
                </a:solidFill>
                <a:latin typeface="Cantarell"/>
                <a:ea typeface="Cantarell"/>
                <a:cs typeface="Cantarell"/>
                <a:sym typeface="Cantarell"/>
              </a:rPr>
              <a:t>Architecture </a:t>
            </a:r>
            <a:endParaRPr b="1" i="0" sz="1400" u="none" cap="none" strike="noStrike">
              <a:solidFill>
                <a:srgbClr val="D7AC54"/>
              </a:solidFill>
              <a:latin typeface="Cantarell"/>
              <a:ea typeface="Cantarell"/>
              <a:cs typeface="Cantarell"/>
              <a:sym typeface="Cantarell"/>
            </a:endParaRPr>
          </a:p>
        </p:txBody>
      </p:sp>
      <p:pic>
        <p:nvPicPr>
          <p:cNvPr id="137" name="Google Shape;137;p23"/>
          <p:cNvPicPr preferRelativeResize="0"/>
          <p:nvPr/>
        </p:nvPicPr>
        <p:blipFill>
          <a:blip r:embed="rId3">
            <a:alphaModFix/>
          </a:blip>
          <a:stretch>
            <a:fillRect/>
          </a:stretch>
        </p:blipFill>
        <p:spPr>
          <a:xfrm>
            <a:off x="744975" y="848075"/>
            <a:ext cx="7347899" cy="377364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nvSpPr>
        <p:spPr>
          <a:xfrm>
            <a:off x="739150" y="2240850"/>
            <a:ext cx="7347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FF0000"/>
              </a:solidFill>
              <a:latin typeface="Arial"/>
              <a:ea typeface="Arial"/>
              <a:cs typeface="Arial"/>
              <a:sym typeface="Arial"/>
            </a:endParaRPr>
          </a:p>
        </p:txBody>
      </p:sp>
      <p:sp>
        <p:nvSpPr>
          <p:cNvPr id="143" name="Google Shape;143;p24"/>
          <p:cNvSpPr/>
          <p:nvPr/>
        </p:nvSpPr>
        <p:spPr>
          <a:xfrm>
            <a:off x="2329132" y="381270"/>
            <a:ext cx="4179600" cy="4668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457200" marR="0" rtl="0" algn="l">
              <a:lnSpc>
                <a:spcPct val="115000"/>
              </a:lnSpc>
              <a:spcBef>
                <a:spcPts val="0"/>
              </a:spcBef>
              <a:spcAft>
                <a:spcPts val="0"/>
              </a:spcAft>
              <a:buClr>
                <a:srgbClr val="000000"/>
              </a:buClr>
              <a:buSzPts val="1400"/>
              <a:buFont typeface="Arial"/>
              <a:buNone/>
            </a:pPr>
            <a:r>
              <a:rPr b="1" i="0" lang="en" sz="1400" u="none" cap="none" strike="noStrike">
                <a:solidFill>
                  <a:srgbClr val="D7AC54"/>
                </a:solidFill>
                <a:latin typeface="Cantarell"/>
                <a:ea typeface="Cantarell"/>
                <a:cs typeface="Cantarell"/>
                <a:sym typeface="Cantarell"/>
              </a:rPr>
              <a:t>System Analysis and Requirements</a:t>
            </a:r>
            <a:endParaRPr b="0" i="0" sz="19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D7AC54"/>
              </a:solidFill>
              <a:latin typeface="Cantarell"/>
              <a:ea typeface="Cantarell"/>
              <a:cs typeface="Cantarell"/>
              <a:sym typeface="Cantarell"/>
            </a:endParaRPr>
          </a:p>
        </p:txBody>
      </p:sp>
      <p:sp>
        <p:nvSpPr>
          <p:cNvPr id="144" name="Google Shape;144;p24"/>
          <p:cNvSpPr txBox="1"/>
          <p:nvPr/>
        </p:nvSpPr>
        <p:spPr>
          <a:xfrm>
            <a:off x="211650" y="905163"/>
            <a:ext cx="4119000" cy="169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Overview:</a:t>
            </a:r>
            <a:endParaRPr b="1" sz="18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Captures live video with an </a:t>
            </a:r>
            <a:r>
              <a:rPr b="1" lang="en" sz="1100">
                <a:solidFill>
                  <a:schemeClr val="dk1"/>
                </a:solidFill>
              </a:rPr>
              <a:t>ESP32 camera</a:t>
            </a:r>
            <a:r>
              <a:rPr lang="en" sz="1100">
                <a:solidFill>
                  <a:schemeClr val="dk1"/>
                </a:solidFill>
              </a:rPr>
              <a:t> and distance data from </a:t>
            </a:r>
            <a:r>
              <a:rPr b="1" lang="en" sz="1100">
                <a:solidFill>
                  <a:schemeClr val="dk1"/>
                </a:solidFill>
              </a:rPr>
              <a:t>ultrasonic sensors</a:t>
            </a:r>
            <a:r>
              <a:rPr lang="en" sz="1100">
                <a:solidFill>
                  <a:schemeClr val="dk1"/>
                </a:solidFill>
              </a:rPr>
              <a:t> to create a room map.</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User can divide the map into zones.</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Voice recognition (basic ML)</a:t>
            </a:r>
            <a:r>
              <a:rPr lang="en" sz="1100">
                <a:solidFill>
                  <a:schemeClr val="dk1"/>
                </a:solidFill>
              </a:rPr>
              <a:t> lets the robot respond to its name and accept commands such as “</a:t>
            </a:r>
            <a:r>
              <a:rPr b="1" lang="en" sz="1100">
                <a:solidFill>
                  <a:schemeClr val="dk1"/>
                </a:solidFill>
              </a:rPr>
              <a:t>move to the  kitchen”</a:t>
            </a:r>
            <a:r>
              <a:rPr lang="en" sz="1100">
                <a:solidFill>
                  <a:schemeClr val="dk1"/>
                </a:solidFill>
              </a:rPr>
              <a:t>.</a:t>
            </a:r>
            <a:endParaRPr sz="1100">
              <a:solidFill>
                <a:schemeClr val="dk1"/>
              </a:solidFill>
            </a:endParaRPr>
          </a:p>
          <a:p>
            <a:pPr indent="0" lvl="0" marL="457200" rtl="0" algn="l">
              <a:spcBef>
                <a:spcPts val="0"/>
              </a:spcBef>
              <a:spcAft>
                <a:spcPts val="0"/>
              </a:spcAft>
              <a:buNone/>
            </a:pPr>
            <a:r>
              <a:t/>
            </a:r>
            <a:endParaRPr sz="1100">
              <a:solidFill>
                <a:schemeClr val="dk1"/>
              </a:solidFill>
            </a:endParaRPr>
          </a:p>
        </p:txBody>
      </p:sp>
      <p:graphicFrame>
        <p:nvGraphicFramePr>
          <p:cNvPr id="145" name="Google Shape;145;p24"/>
          <p:cNvGraphicFramePr/>
          <p:nvPr/>
        </p:nvGraphicFramePr>
        <p:xfrm>
          <a:off x="4330650" y="1500825"/>
          <a:ext cx="3000000" cy="3000000"/>
        </p:xfrm>
        <a:graphic>
          <a:graphicData uri="http://schemas.openxmlformats.org/drawingml/2006/table">
            <a:tbl>
              <a:tblPr>
                <a:noFill/>
                <a:tableStyleId>{5B52807A-B8AC-40A0-9F49-79818833B288}</a:tableStyleId>
              </a:tblPr>
              <a:tblGrid>
                <a:gridCol w="1244050"/>
                <a:gridCol w="1828950"/>
                <a:gridCol w="1637375"/>
              </a:tblGrid>
              <a:tr h="381000">
                <a:tc>
                  <a:txBody>
                    <a:bodyPr/>
                    <a:lstStyle/>
                    <a:p>
                      <a:pPr indent="0" lvl="0" marL="0" rtl="0" algn="l">
                        <a:spcBef>
                          <a:spcPts val="0"/>
                        </a:spcBef>
                        <a:spcAft>
                          <a:spcPts val="0"/>
                        </a:spcAft>
                        <a:buNone/>
                      </a:pPr>
                      <a:r>
                        <a:rPr lang="en" sz="1100"/>
                        <a:t>Category</a:t>
                      </a:r>
                      <a:endParaRPr sz="1100"/>
                    </a:p>
                  </a:txBody>
                  <a:tcPr marT="91425" marB="91425" marR="91425" marL="91425"/>
                </a:tc>
                <a:tc>
                  <a:txBody>
                    <a:bodyPr/>
                    <a:lstStyle/>
                    <a:p>
                      <a:pPr indent="0" lvl="0" marL="0" rtl="0" algn="l">
                        <a:spcBef>
                          <a:spcPts val="0"/>
                        </a:spcBef>
                        <a:spcAft>
                          <a:spcPts val="0"/>
                        </a:spcAft>
                        <a:buNone/>
                      </a:pPr>
                      <a:r>
                        <a:rPr lang="en" sz="1100"/>
                        <a:t>Components</a:t>
                      </a:r>
                      <a:endParaRPr sz="1100"/>
                    </a:p>
                  </a:txBody>
                  <a:tcPr marT="91425" marB="91425" marR="91425" marL="91425"/>
                </a:tc>
                <a:tc>
                  <a:txBody>
                    <a:bodyPr/>
                    <a:lstStyle/>
                    <a:p>
                      <a:pPr indent="0" lvl="0" marL="0" rtl="0" algn="l">
                        <a:spcBef>
                          <a:spcPts val="0"/>
                        </a:spcBef>
                        <a:spcAft>
                          <a:spcPts val="0"/>
                        </a:spcAft>
                        <a:buNone/>
                      </a:pPr>
                      <a:r>
                        <a:rPr lang="en" sz="1100"/>
                        <a:t>Purpose</a:t>
                      </a:r>
                      <a:endParaRPr sz="1100"/>
                    </a:p>
                  </a:txBody>
                  <a:tcPr marT="91425" marB="91425" marR="91425" marL="91425"/>
                </a:tc>
              </a:tr>
              <a:tr h="381000">
                <a:tc>
                  <a:txBody>
                    <a:bodyPr/>
                    <a:lstStyle/>
                    <a:p>
                      <a:pPr indent="0" lvl="0" marL="0" rtl="0" algn="l">
                        <a:spcBef>
                          <a:spcPts val="0"/>
                        </a:spcBef>
                        <a:spcAft>
                          <a:spcPts val="0"/>
                        </a:spcAft>
                        <a:buNone/>
                      </a:pPr>
                      <a:r>
                        <a:rPr lang="en" sz="1100"/>
                        <a:t>Processing &amp; Control</a:t>
                      </a:r>
                      <a:endParaRPr sz="1100"/>
                    </a:p>
                  </a:txBody>
                  <a:tcPr marT="91425" marB="91425" marR="91425" marL="91425"/>
                </a:tc>
                <a:tc>
                  <a:txBody>
                    <a:bodyPr/>
                    <a:lstStyle/>
                    <a:p>
                      <a:pPr indent="0" lvl="0" marL="0" rtl="0" algn="l">
                        <a:spcBef>
                          <a:spcPts val="0"/>
                        </a:spcBef>
                        <a:spcAft>
                          <a:spcPts val="0"/>
                        </a:spcAft>
                        <a:buNone/>
                      </a:pPr>
                      <a:r>
                        <a:rPr lang="en" sz="1100"/>
                        <a:t>Raspberry Pi 4, Arduino Uno</a:t>
                      </a:r>
                      <a:endParaRPr sz="1100"/>
                    </a:p>
                  </a:txBody>
                  <a:tcPr marT="91425" marB="91425" marR="91425" marL="91425"/>
                </a:tc>
                <a:tc>
                  <a:txBody>
                    <a:bodyPr/>
                    <a:lstStyle/>
                    <a:p>
                      <a:pPr indent="0" lvl="0" marL="0" rtl="0" algn="l">
                        <a:spcBef>
                          <a:spcPts val="0"/>
                        </a:spcBef>
                        <a:spcAft>
                          <a:spcPts val="0"/>
                        </a:spcAft>
                        <a:buNone/>
                      </a:pPr>
                      <a:r>
                        <a:rPr lang="en" sz="1100"/>
                        <a:t>High-level processing, motor control</a:t>
                      </a:r>
                      <a:endParaRPr sz="1100"/>
                    </a:p>
                  </a:txBody>
                  <a:tcPr marT="91425" marB="91425" marR="91425" marL="91425"/>
                </a:tc>
              </a:tr>
              <a:tr h="381000">
                <a:tc>
                  <a:txBody>
                    <a:bodyPr/>
                    <a:lstStyle/>
                    <a:p>
                      <a:pPr indent="0" lvl="0" marL="0" rtl="0" algn="l">
                        <a:spcBef>
                          <a:spcPts val="0"/>
                        </a:spcBef>
                        <a:spcAft>
                          <a:spcPts val="0"/>
                        </a:spcAft>
                        <a:buNone/>
                      </a:pPr>
                      <a:r>
                        <a:rPr lang="en" sz="1100"/>
                        <a:t>Power</a:t>
                      </a:r>
                      <a:endParaRPr sz="1100"/>
                    </a:p>
                  </a:txBody>
                  <a:tcPr marT="91425" marB="91425" marR="91425" marL="91425"/>
                </a:tc>
                <a:tc>
                  <a:txBody>
                    <a:bodyPr/>
                    <a:lstStyle/>
                    <a:p>
                      <a:pPr indent="0" lvl="0" marL="0" rtl="0" algn="l">
                        <a:spcBef>
                          <a:spcPts val="0"/>
                        </a:spcBef>
                        <a:spcAft>
                          <a:spcPts val="0"/>
                        </a:spcAft>
                        <a:buNone/>
                      </a:pPr>
                      <a:r>
                        <a:rPr lang="en" sz="1100"/>
                        <a:t>12 V battery, switching regulator</a:t>
                      </a:r>
                      <a:endParaRPr sz="1100"/>
                    </a:p>
                  </a:txBody>
                  <a:tcPr marT="91425" marB="91425" marR="91425" marL="91425"/>
                </a:tc>
                <a:tc>
                  <a:txBody>
                    <a:bodyPr/>
                    <a:lstStyle/>
                    <a:p>
                      <a:pPr indent="0" lvl="0" marL="0" rtl="0" algn="l">
                        <a:spcBef>
                          <a:spcPts val="0"/>
                        </a:spcBef>
                        <a:spcAft>
                          <a:spcPts val="0"/>
                        </a:spcAft>
                        <a:buNone/>
                      </a:pPr>
                      <a:r>
                        <a:rPr lang="en" sz="1100"/>
                        <a:t>Stable power supply</a:t>
                      </a:r>
                      <a:endParaRPr sz="1100"/>
                    </a:p>
                  </a:txBody>
                  <a:tcPr marT="91425" marB="91425" marR="91425" marL="91425"/>
                </a:tc>
              </a:tr>
              <a:tr h="381000">
                <a:tc>
                  <a:txBody>
                    <a:bodyPr/>
                    <a:lstStyle/>
                    <a:p>
                      <a:pPr indent="0" lvl="0" marL="0" rtl="0" algn="l">
                        <a:spcBef>
                          <a:spcPts val="0"/>
                        </a:spcBef>
                        <a:spcAft>
                          <a:spcPts val="0"/>
                        </a:spcAft>
                        <a:buNone/>
                      </a:pPr>
                      <a:r>
                        <a:rPr lang="en" sz="1100"/>
                        <a:t>Locomotion</a:t>
                      </a:r>
                      <a:endParaRPr sz="1100"/>
                    </a:p>
                  </a:txBody>
                  <a:tcPr marT="91425" marB="91425" marR="91425" marL="91425"/>
                </a:tc>
                <a:tc>
                  <a:txBody>
                    <a:bodyPr/>
                    <a:lstStyle/>
                    <a:p>
                      <a:pPr indent="0" lvl="0" marL="0" rtl="0" algn="l">
                        <a:spcBef>
                          <a:spcPts val="0"/>
                        </a:spcBef>
                        <a:spcAft>
                          <a:spcPts val="0"/>
                        </a:spcAft>
                        <a:buNone/>
                      </a:pPr>
                      <a:r>
                        <a:rPr lang="en" sz="1100"/>
                        <a:t>DC motors, Hall effect sensors </a:t>
                      </a:r>
                      <a:endParaRPr sz="1100"/>
                    </a:p>
                  </a:txBody>
                  <a:tcPr marT="91425" marB="91425" marR="91425" marL="91425"/>
                </a:tc>
                <a:tc>
                  <a:txBody>
                    <a:bodyPr/>
                    <a:lstStyle/>
                    <a:p>
                      <a:pPr indent="0" lvl="0" marL="0" rtl="0" algn="l">
                        <a:spcBef>
                          <a:spcPts val="0"/>
                        </a:spcBef>
                        <a:spcAft>
                          <a:spcPts val="0"/>
                        </a:spcAft>
                        <a:buNone/>
                      </a:pPr>
                      <a:r>
                        <a:rPr lang="en" sz="1100"/>
                        <a:t>Drive system, odometry feedback</a:t>
                      </a:r>
                      <a:endParaRPr sz="1100"/>
                    </a:p>
                  </a:txBody>
                  <a:tcPr marT="91425" marB="91425" marR="91425" marL="91425"/>
                </a:tc>
              </a:tr>
              <a:tr h="381000">
                <a:tc>
                  <a:txBody>
                    <a:bodyPr/>
                    <a:lstStyle/>
                    <a:p>
                      <a:pPr indent="0" lvl="0" marL="0" rtl="0" algn="l">
                        <a:spcBef>
                          <a:spcPts val="0"/>
                        </a:spcBef>
                        <a:spcAft>
                          <a:spcPts val="0"/>
                        </a:spcAft>
                        <a:buNone/>
                      </a:pPr>
                      <a:r>
                        <a:rPr lang="en" sz="1100"/>
                        <a:t>Sensing</a:t>
                      </a:r>
                      <a:endParaRPr sz="1100"/>
                    </a:p>
                  </a:txBody>
                  <a:tcPr marT="91425" marB="91425" marR="91425" marL="91425"/>
                </a:tc>
                <a:tc>
                  <a:txBody>
                    <a:bodyPr/>
                    <a:lstStyle/>
                    <a:p>
                      <a:pPr indent="0" lvl="0" marL="0" rtl="0" algn="l">
                        <a:spcBef>
                          <a:spcPts val="0"/>
                        </a:spcBef>
                        <a:spcAft>
                          <a:spcPts val="0"/>
                        </a:spcAft>
                        <a:buNone/>
                      </a:pPr>
                      <a:r>
                        <a:rPr lang="en" sz="1100"/>
                        <a:t>ESP32 camera, IMU sensor, ultrasonic sensor</a:t>
                      </a:r>
                      <a:endParaRPr sz="1100"/>
                    </a:p>
                  </a:txBody>
                  <a:tcPr marT="91425" marB="91425" marR="91425" marL="91425"/>
                </a:tc>
                <a:tc>
                  <a:txBody>
                    <a:bodyPr/>
                    <a:lstStyle/>
                    <a:p>
                      <a:pPr indent="0" lvl="0" marL="0" rtl="0" algn="l">
                        <a:spcBef>
                          <a:spcPts val="0"/>
                        </a:spcBef>
                        <a:spcAft>
                          <a:spcPts val="0"/>
                        </a:spcAft>
                        <a:buNone/>
                      </a:pPr>
                      <a:r>
                        <a:rPr lang="en" sz="1100"/>
                        <a:t>Mapping, orientation, obstacle detection</a:t>
                      </a:r>
                      <a:endParaRPr sz="1100"/>
                    </a:p>
                  </a:txBody>
                  <a:tcPr marT="91425" marB="91425" marR="91425" marL="91425"/>
                </a:tc>
              </a:tr>
              <a:tr h="381000">
                <a:tc>
                  <a:txBody>
                    <a:bodyPr/>
                    <a:lstStyle/>
                    <a:p>
                      <a:pPr indent="0" lvl="0" marL="0" rtl="0" algn="l">
                        <a:spcBef>
                          <a:spcPts val="0"/>
                        </a:spcBef>
                        <a:spcAft>
                          <a:spcPts val="0"/>
                        </a:spcAft>
                        <a:buNone/>
                      </a:pPr>
                      <a:r>
                        <a:rPr lang="en" sz="1100"/>
                        <a:t>Audio I/O</a:t>
                      </a:r>
                      <a:endParaRPr sz="1100"/>
                    </a:p>
                  </a:txBody>
                  <a:tcPr marT="91425" marB="91425" marR="91425" marL="91425"/>
                </a:tc>
                <a:tc>
                  <a:txBody>
                    <a:bodyPr/>
                    <a:lstStyle/>
                    <a:p>
                      <a:pPr indent="0" lvl="0" marL="0" rtl="0" algn="l">
                        <a:spcBef>
                          <a:spcPts val="0"/>
                        </a:spcBef>
                        <a:spcAft>
                          <a:spcPts val="0"/>
                        </a:spcAft>
                        <a:buNone/>
                      </a:pPr>
                      <a:r>
                        <a:rPr lang="en" sz="1100"/>
                        <a:t>Microphone, speakers</a:t>
                      </a:r>
                      <a:endParaRPr sz="1100"/>
                    </a:p>
                  </a:txBody>
                  <a:tcPr marT="91425" marB="91425" marR="91425" marL="91425"/>
                </a:tc>
                <a:tc>
                  <a:txBody>
                    <a:bodyPr/>
                    <a:lstStyle/>
                    <a:p>
                      <a:pPr indent="0" lvl="0" marL="0" rtl="0" algn="l">
                        <a:spcBef>
                          <a:spcPts val="0"/>
                        </a:spcBef>
                        <a:spcAft>
                          <a:spcPts val="0"/>
                        </a:spcAft>
                        <a:buNone/>
                      </a:pPr>
                      <a:r>
                        <a:rPr lang="en" sz="1100"/>
                        <a:t>Voice command input and feedback</a:t>
                      </a:r>
                      <a:endParaRPr sz="1100"/>
                    </a:p>
                  </a:txBody>
                  <a:tcPr marT="91425" marB="91425" marR="91425" marL="91425"/>
                </a:tc>
              </a:tr>
            </a:tbl>
          </a:graphicData>
        </a:graphic>
      </p:graphicFrame>
      <p:sp>
        <p:nvSpPr>
          <p:cNvPr id="146" name="Google Shape;146;p24"/>
          <p:cNvSpPr txBox="1"/>
          <p:nvPr/>
        </p:nvSpPr>
        <p:spPr>
          <a:xfrm>
            <a:off x="4390650" y="941050"/>
            <a:ext cx="3312300" cy="4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chemeClr val="dk1"/>
                </a:solidFill>
              </a:rPr>
              <a:t>Hardware Requirements:</a:t>
            </a:r>
            <a:endParaRPr b="1" sz="1800">
              <a:solidFill>
                <a:schemeClr val="dk1"/>
              </a:solidFill>
            </a:endParaRPr>
          </a:p>
        </p:txBody>
      </p:sp>
      <p:sp>
        <p:nvSpPr>
          <p:cNvPr id="147" name="Google Shape;147;p24"/>
          <p:cNvSpPr txBox="1"/>
          <p:nvPr/>
        </p:nvSpPr>
        <p:spPr>
          <a:xfrm>
            <a:off x="160150" y="2240850"/>
            <a:ext cx="4119000" cy="247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t/>
            </a:r>
            <a:endParaRPr b="1" sz="1800">
              <a:solidFill>
                <a:schemeClr val="dk1"/>
              </a:solidFill>
            </a:endParaRPr>
          </a:p>
          <a:p>
            <a:pPr indent="-298450" lvl="0" marL="457200" rtl="0" algn="l">
              <a:lnSpc>
                <a:spcPct val="115000"/>
              </a:lnSpc>
              <a:spcBef>
                <a:spcPts val="1400"/>
              </a:spcBef>
              <a:spcAft>
                <a:spcPts val="0"/>
              </a:spcAft>
              <a:buClr>
                <a:schemeClr val="dk1"/>
              </a:buClr>
              <a:buSzPts val="1100"/>
              <a:buChar char="●"/>
            </a:pPr>
            <a:r>
              <a:rPr b="1" lang="en" sz="1100">
                <a:solidFill>
                  <a:schemeClr val="dk1"/>
                </a:solidFill>
              </a:rPr>
              <a:t>Operating System &amp; Framework</a:t>
            </a:r>
            <a:r>
              <a:rPr lang="en" sz="1100">
                <a:solidFill>
                  <a:schemeClr val="dk1"/>
                </a:solidFill>
              </a:rPr>
              <a:t>: Raspberry Pi OS / Linux with </a:t>
            </a:r>
            <a:r>
              <a:rPr b="1" lang="en" sz="1100">
                <a:solidFill>
                  <a:schemeClr val="dk1"/>
                </a:solidFill>
              </a:rPr>
              <a:t>ROS2 Humble. </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Mapping &amp; Navigation</a:t>
            </a:r>
            <a:r>
              <a:rPr lang="en" sz="1100">
                <a:solidFill>
                  <a:schemeClr val="dk1"/>
                </a:solidFill>
              </a:rPr>
              <a:t>: ROS-based </a:t>
            </a:r>
            <a:r>
              <a:rPr b="1" lang="en" sz="1100">
                <a:solidFill>
                  <a:schemeClr val="dk1"/>
                </a:solidFill>
              </a:rPr>
              <a:t>VSLAM packages</a:t>
            </a:r>
            <a:r>
              <a:rPr lang="en"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Control Software</a:t>
            </a:r>
            <a:r>
              <a:rPr lang="en" sz="1100">
                <a:solidFill>
                  <a:schemeClr val="dk1"/>
                </a:solidFill>
              </a:rPr>
              <a:t>: Custom </a:t>
            </a:r>
            <a:r>
              <a:rPr b="1" lang="en" sz="1100">
                <a:solidFill>
                  <a:schemeClr val="dk1"/>
                </a:solidFill>
              </a:rPr>
              <a:t>ROS </a:t>
            </a:r>
            <a:r>
              <a:rPr lang="en" sz="1100">
                <a:solidFill>
                  <a:schemeClr val="dk1"/>
                </a:solidFill>
              </a:rPr>
              <a:t>nodes in Python for motor control, sensor fusion, and coordination between Raspberry Pi and Arduino via </a:t>
            </a:r>
            <a:r>
              <a:rPr b="1" lang="en" sz="1100">
                <a:solidFill>
                  <a:schemeClr val="dk1"/>
                </a:solidFill>
              </a:rPr>
              <a:t>rosserial</a:t>
            </a:r>
            <a:r>
              <a:rPr lang="en"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User Interface</a:t>
            </a:r>
            <a:r>
              <a:rPr lang="en" sz="1100">
                <a:solidFill>
                  <a:schemeClr val="dk1"/>
                </a:solidFill>
              </a:rPr>
              <a:t>: Web using </a:t>
            </a:r>
            <a:r>
              <a:rPr b="1" lang="en" sz="1100">
                <a:solidFill>
                  <a:schemeClr val="dk1"/>
                </a:solidFill>
              </a:rPr>
              <a:t>ROSBridge/WebSocket</a:t>
            </a:r>
            <a:r>
              <a:rPr lang="en" sz="1100">
                <a:solidFill>
                  <a:schemeClr val="dk1"/>
                </a:solidFill>
              </a:rPr>
              <a:t> to display maps, divide zones.</a:t>
            </a:r>
            <a:br>
              <a:rPr lang="en" sz="1100">
                <a:solidFill>
                  <a:schemeClr val="dk1"/>
                </a:solidFill>
              </a:rPr>
            </a:br>
            <a:endParaRPr sz="1100">
              <a:solidFill>
                <a:schemeClr val="dk1"/>
              </a:solidFill>
            </a:endParaRPr>
          </a:p>
          <a:p>
            <a:pPr indent="0" lvl="0" marL="0" rtl="0" algn="l">
              <a:spcBef>
                <a:spcPts val="1200"/>
              </a:spcBef>
              <a:spcAft>
                <a:spcPts val="0"/>
              </a:spcAft>
              <a:buNone/>
            </a:pPr>
            <a:r>
              <a:t/>
            </a:r>
            <a:endParaRPr sz="1800">
              <a:solidFill>
                <a:schemeClr val="dk2"/>
              </a:solidFill>
            </a:endParaRPr>
          </a:p>
        </p:txBody>
      </p:sp>
      <p:sp>
        <p:nvSpPr>
          <p:cNvPr id="148" name="Google Shape;148;p24"/>
          <p:cNvSpPr txBox="1"/>
          <p:nvPr/>
        </p:nvSpPr>
        <p:spPr>
          <a:xfrm>
            <a:off x="290025" y="2399950"/>
            <a:ext cx="2985600" cy="46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400"/>
              </a:spcAft>
              <a:buClr>
                <a:schemeClr val="dk1"/>
              </a:buClr>
              <a:buSzPts val="1100"/>
              <a:buFont typeface="Arial"/>
              <a:buNone/>
            </a:pPr>
            <a:r>
              <a:rPr b="1" lang="en" sz="1800">
                <a:solidFill>
                  <a:schemeClr val="dk1"/>
                </a:solidFill>
              </a:rPr>
              <a:t>Software Requirements</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2" name="Shape 152"/>
        <p:cNvGrpSpPr/>
        <p:nvPr/>
      </p:nvGrpSpPr>
      <p:grpSpPr>
        <a:xfrm>
          <a:off x="0" y="0"/>
          <a:ext cx="0" cy="0"/>
          <a:chOff x="0" y="0"/>
          <a:chExt cx="0" cy="0"/>
        </a:xfrm>
      </p:grpSpPr>
      <p:sp>
        <p:nvSpPr>
          <p:cNvPr id="153" name="Google Shape;153;p25"/>
          <p:cNvSpPr txBox="1"/>
          <p:nvPr/>
        </p:nvSpPr>
        <p:spPr>
          <a:xfrm>
            <a:off x="739150" y="2240850"/>
            <a:ext cx="7347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FF0000"/>
              </a:solidFill>
              <a:latin typeface="Arial"/>
              <a:ea typeface="Arial"/>
              <a:cs typeface="Arial"/>
              <a:sym typeface="Arial"/>
            </a:endParaRPr>
          </a:p>
        </p:txBody>
      </p:sp>
      <p:sp>
        <p:nvSpPr>
          <p:cNvPr id="154" name="Google Shape;154;p25"/>
          <p:cNvSpPr/>
          <p:nvPr/>
        </p:nvSpPr>
        <p:spPr>
          <a:xfrm>
            <a:off x="2329132" y="381270"/>
            <a:ext cx="4179600" cy="4668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D7AC54"/>
                </a:solidFill>
                <a:latin typeface="Cantarell"/>
                <a:ea typeface="Cantarell"/>
                <a:cs typeface="Cantarell"/>
                <a:sym typeface="Cantarell"/>
              </a:rPr>
              <a:t>Implementation and Testing </a:t>
            </a:r>
            <a:endParaRPr b="1" i="0" sz="1400" u="none" cap="none" strike="noStrike">
              <a:solidFill>
                <a:srgbClr val="D7AC54"/>
              </a:solidFill>
              <a:latin typeface="Cantarell"/>
              <a:ea typeface="Cantarell"/>
              <a:cs typeface="Cantarell"/>
              <a:sym typeface="Cantarell"/>
            </a:endParaRPr>
          </a:p>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D7AC54"/>
              </a:solidFill>
              <a:latin typeface="Cantarell"/>
              <a:ea typeface="Cantarell"/>
              <a:cs typeface="Cantarell"/>
              <a:sym typeface="Cantare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8" name="Shape 158"/>
        <p:cNvGrpSpPr/>
        <p:nvPr/>
      </p:nvGrpSpPr>
      <p:grpSpPr>
        <a:xfrm>
          <a:off x="0" y="0"/>
          <a:ext cx="0" cy="0"/>
          <a:chOff x="0" y="0"/>
          <a:chExt cx="0" cy="0"/>
        </a:xfrm>
      </p:grpSpPr>
      <p:sp>
        <p:nvSpPr>
          <p:cNvPr id="159" name="Google Shape;159;p26"/>
          <p:cNvSpPr txBox="1"/>
          <p:nvPr/>
        </p:nvSpPr>
        <p:spPr>
          <a:xfrm>
            <a:off x="739150" y="2240850"/>
            <a:ext cx="7347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FF0000"/>
              </a:solidFill>
              <a:latin typeface="Arial"/>
              <a:ea typeface="Arial"/>
              <a:cs typeface="Arial"/>
              <a:sym typeface="Arial"/>
            </a:endParaRPr>
          </a:p>
        </p:txBody>
      </p:sp>
      <p:sp>
        <p:nvSpPr>
          <p:cNvPr id="160" name="Google Shape;160;p26"/>
          <p:cNvSpPr/>
          <p:nvPr/>
        </p:nvSpPr>
        <p:spPr>
          <a:xfrm>
            <a:off x="2329132" y="381270"/>
            <a:ext cx="4179600" cy="4668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D7AC54"/>
                </a:solidFill>
                <a:latin typeface="Cantarell"/>
                <a:ea typeface="Cantarell"/>
                <a:cs typeface="Cantarell"/>
                <a:sym typeface="Cantarell"/>
              </a:rPr>
              <a:t>Results and conclusions</a:t>
            </a:r>
            <a:endParaRPr b="1" i="0" sz="1400" u="none" cap="none" strike="noStrike">
              <a:solidFill>
                <a:srgbClr val="D7AC54"/>
              </a:solidFill>
              <a:latin typeface="Cantarell"/>
              <a:ea typeface="Cantarell"/>
              <a:cs typeface="Cantarell"/>
              <a:sym typeface="Cantare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7"/>
          <p:cNvSpPr txBox="1"/>
          <p:nvPr/>
        </p:nvSpPr>
        <p:spPr>
          <a:xfrm>
            <a:off x="672100" y="2681450"/>
            <a:ext cx="7347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FF0000"/>
              </a:solidFill>
              <a:latin typeface="Arial"/>
              <a:ea typeface="Arial"/>
              <a:cs typeface="Arial"/>
              <a:sym typeface="Arial"/>
            </a:endParaRPr>
          </a:p>
        </p:txBody>
      </p:sp>
      <p:sp>
        <p:nvSpPr>
          <p:cNvPr id="166" name="Google Shape;166;p27"/>
          <p:cNvSpPr/>
          <p:nvPr/>
        </p:nvSpPr>
        <p:spPr>
          <a:xfrm>
            <a:off x="2329132" y="381270"/>
            <a:ext cx="4179600" cy="4668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D7AC54"/>
                </a:solidFill>
                <a:latin typeface="Cantarell"/>
                <a:ea typeface="Cantarell"/>
                <a:cs typeface="Cantarell"/>
                <a:sym typeface="Cantarell"/>
              </a:rPr>
              <a:t>Future Work</a:t>
            </a:r>
            <a:endParaRPr b="1" i="0" sz="1400" u="none" cap="none" strike="noStrike">
              <a:solidFill>
                <a:srgbClr val="D7AC54"/>
              </a:solidFill>
              <a:latin typeface="Cantarell"/>
              <a:ea typeface="Cantarell"/>
              <a:cs typeface="Cantarell"/>
              <a:sym typeface="Cantarell"/>
            </a:endParaRPr>
          </a:p>
        </p:txBody>
      </p:sp>
      <p:sp>
        <p:nvSpPr>
          <p:cNvPr id="167" name="Google Shape;167;p27"/>
          <p:cNvSpPr txBox="1"/>
          <p:nvPr/>
        </p:nvSpPr>
        <p:spPr>
          <a:xfrm>
            <a:off x="863950" y="1067025"/>
            <a:ext cx="7499700" cy="31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Integration of advanced AI algorithms</a:t>
            </a:r>
            <a:r>
              <a:rPr lang="en">
                <a:solidFill>
                  <a:schemeClr val="dk1"/>
                </a:solidFill>
              </a:rPr>
              <a:t>: Using deep learning for improved object recognition and semantic mapping.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Cloud and edge computing</a:t>
            </a:r>
            <a:r>
              <a:rPr lang="en">
                <a:solidFill>
                  <a:schemeClr val="dk1"/>
                </a:solidFill>
              </a:rPr>
              <a:t>: Offloading heavy computations to the cloud while using edge devices for real-time decision-making.</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Improve Voice and app-based control</a:t>
            </a:r>
            <a:r>
              <a:rPr lang="en">
                <a:solidFill>
                  <a:schemeClr val="dk1"/>
                </a:solidFill>
              </a:rPr>
              <a:t>: Adding natural user interfaces for improved human–robot interaction.</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Industry-scale adaptation</a:t>
            </a:r>
            <a:r>
              <a:rPr lang="en">
                <a:solidFill>
                  <a:schemeClr val="dk1"/>
                </a:solidFill>
              </a:rPr>
              <a:t>: Extending the system for warehouse automation, inspired by Amazon’s robots that transport goods efficiently using optimized navigation and IoT coordination.</a:t>
            </a:r>
            <a:endParaRPr>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txBox="1"/>
          <p:nvPr/>
        </p:nvSpPr>
        <p:spPr>
          <a:xfrm>
            <a:off x="739150" y="2240850"/>
            <a:ext cx="7347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FF0000"/>
              </a:solidFill>
              <a:latin typeface="Arial"/>
              <a:ea typeface="Arial"/>
              <a:cs typeface="Arial"/>
              <a:sym typeface="Arial"/>
            </a:endParaRPr>
          </a:p>
        </p:txBody>
      </p:sp>
      <p:sp>
        <p:nvSpPr>
          <p:cNvPr id="173" name="Google Shape;173;p28"/>
          <p:cNvSpPr/>
          <p:nvPr/>
        </p:nvSpPr>
        <p:spPr>
          <a:xfrm>
            <a:off x="2329132" y="381270"/>
            <a:ext cx="4179600" cy="466800"/>
          </a:xfrm>
          <a:prstGeom prst="snip2DiagRect">
            <a:avLst>
              <a:gd fmla="val 0" name="adj1"/>
              <a:gd fmla="val 43005" name="adj2"/>
            </a:avLst>
          </a:prstGeom>
          <a:solidFill>
            <a:srgbClr val="23303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D7AC54"/>
                </a:solidFill>
                <a:latin typeface="Cantarell"/>
                <a:ea typeface="Cantarell"/>
                <a:cs typeface="Cantarell"/>
                <a:sym typeface="Cantarell"/>
              </a:rPr>
              <a:t>References</a:t>
            </a:r>
            <a:endParaRPr b="1" i="0" sz="1400" u="none" cap="none" strike="noStrike">
              <a:solidFill>
                <a:srgbClr val="D7AC54"/>
              </a:solidFill>
              <a:latin typeface="Cantarell"/>
              <a:ea typeface="Cantarell"/>
              <a:cs typeface="Cantarell"/>
              <a:sym typeface="Cantarell"/>
            </a:endParaRPr>
          </a:p>
        </p:txBody>
      </p:sp>
      <p:sp>
        <p:nvSpPr>
          <p:cNvPr id="174" name="Google Shape;174;p28"/>
          <p:cNvSpPr txBox="1"/>
          <p:nvPr/>
        </p:nvSpPr>
        <p:spPr>
          <a:xfrm>
            <a:off x="574500" y="928650"/>
            <a:ext cx="7995000" cy="40197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Buonocore, L., Nascimento Júnior, C.L. and de Almeida Neto, A., (2012). A Sensor Data Fusion Algorithm for Indoor SLAM Using a Low-Cost Mobile Robot. In: Proceedings of the 9th International Conference on Informatics in Control, Automation and Robotics (ICINCO-2012), pp. 407-414., </a:t>
            </a:r>
            <a:r>
              <a:rPr lang="en" sz="1100">
                <a:solidFill>
                  <a:schemeClr val="dk1"/>
                </a:solidFill>
              </a:rPr>
              <a:t>(</a:t>
            </a:r>
            <a:r>
              <a:rPr lang="en" sz="1100" u="sng">
                <a:solidFill>
                  <a:schemeClr val="hlink"/>
                </a:solidFill>
                <a:hlinkClick r:id="rId3"/>
              </a:rPr>
              <a:t>https://www.researchgate.net/profile/Luciano-Buonocore/publication/266669711_A_SENSOR_DATA_FUSION_ALGORITHM_FOR_INDOOR_SLAM_USING_A_LOW-COST_MOBILE_ROBOT/links/54368a310cf2bf1f1f2bdac4/A-SENSOR-DATA-FUSION-ALGORITHM-FOR-INDOOR-SLAM-USING-A-LOW-COST-MOBILE-ROBOT.pdf</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Martinez, J. and Ruiz, M., (2018). Occupancy Grid Extension for Ultrasound Sensor and Wheel Encoders SLAM. Robotics and Autonomous Systems, 104, pp. 45-58.</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Zhang, Y., Li, H. and Chen, Z., (2020). Comparison of Monocular ROS-Based Visual SLAM Methods. Journal of Robotics, 2020, Article ID 1234567, 12 pages. </a:t>
            </a:r>
            <a:r>
              <a:rPr lang="en" sz="1200" u="sng">
                <a:solidFill>
                  <a:schemeClr val="hlink"/>
                </a:solidFill>
                <a:latin typeface="Roboto"/>
                <a:ea typeface="Roboto"/>
                <a:cs typeface="Roboto"/>
                <a:sym typeface="Roboto"/>
                <a:hlinkClick r:id="rId4"/>
              </a:rPr>
              <a:t>https://www.researchgate.net/publication/366375691_Comparison_of_Monocular_ROS-Based_Visual_SLAM_Methods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Ultrasonic-SLAM, PatelVatsalB21, </a:t>
            </a:r>
            <a:r>
              <a:rPr lang="en" sz="1200" u="sng">
                <a:solidFill>
                  <a:schemeClr val="hlink"/>
                </a:solidFill>
                <a:latin typeface="Roboto"/>
                <a:ea typeface="Roboto"/>
                <a:cs typeface="Roboto"/>
                <a:sym typeface="Roboto"/>
                <a:hlinkClick r:id="rId5"/>
              </a:rPr>
              <a:t>https://github.com/PatelVatsalB21/Ultrasonic-SLAM</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Morency, C. and Gupta, S., 2007. Learning Occupancy Grid Maps With Forward Sensor Models. [online] ResearchGate. Available at: </a:t>
            </a:r>
            <a:r>
              <a:rPr lang="en" sz="1200" u="sng">
                <a:solidFill>
                  <a:schemeClr val="hlink"/>
                </a:solidFill>
                <a:latin typeface="Roboto"/>
                <a:ea typeface="Roboto"/>
                <a:cs typeface="Roboto"/>
                <a:sym typeface="Roboto"/>
                <a:hlinkClick r:id="rId6"/>
              </a:rPr>
              <a:t>https://www.researchgate.net/publication/2938736_Learning_Occupancy_Grid_Maps_With_Forward</a:t>
            </a:r>
            <a:r>
              <a:rPr lang="en" sz="1200">
                <a:solidFill>
                  <a:schemeClr val="dk1"/>
                </a:solidFill>
                <a:latin typeface="Roboto"/>
                <a:ea typeface="Roboto"/>
                <a:cs typeface="Roboto"/>
                <a:sym typeface="Roboto"/>
              </a:rPr>
              <a:t> [Accessed 30 September 2025].</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